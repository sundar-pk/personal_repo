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9.png"/><Relationship Id="rId11" Type="http://schemas.openxmlformats.org/officeDocument/2006/relationships/image" Target="../media/image-2-9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72591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DEVLAKE DORA IMPLEMENTATION — GITLAB + JIRA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01802"/>
            <a:ext cx="1072591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source systems to a live DORA dashboard, in five steps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43991" y="1371600"/>
            <a:ext cx="566928" cy="566928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6" name="Image 0" descr="/home/claude/deck/gitlab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7" y="1484986"/>
            <a:ext cx="340157" cy="3401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02359" y="1371600"/>
            <a:ext cx="566928" cy="566928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8" name="Image 1" descr="/home/claude/deck/jira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745" y="1484986"/>
            <a:ext cx="340157" cy="3401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2423160"/>
            <a:ext cx="1998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Connect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" y="2724912"/>
            <a:ext cx="1907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PAT (read_api) + Jira API token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456078" y="13716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3318358" y="1371600"/>
            <a:ext cx="914400" cy="9144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3" name="Image 2" descr="/home/claude/deck/tool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238" y="15544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76118" y="2423160"/>
            <a:ext cx="1998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Scope Config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821838" y="2724912"/>
            <a:ext cx="1907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regex, story-point field, issue mapping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774997" y="13716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5637276" y="1371600"/>
            <a:ext cx="914400" cy="9144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8" name="Image 3" descr="/home/claude/deck/sitema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156" y="155448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95037" y="2423160"/>
            <a:ext cx="1998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Create Project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140757" y="2724912"/>
            <a:ext cx="1907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both connections to one DevLake project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7093915" y="13716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7956194" y="1371600"/>
            <a:ext cx="914400" cy="9144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3" name="Image 4" descr="/home/claude/deck/sync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074" y="1554480"/>
            <a:ext cx="548640" cy="5486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13955" y="2423160"/>
            <a:ext cx="1998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Collect Data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459675" y="2724912"/>
            <a:ext cx="1907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historical pull, then scheduled sync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412834" y="137160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9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7" name="Shape 20"/>
          <p:cNvSpPr/>
          <p:nvPr/>
        </p:nvSpPr>
        <p:spPr>
          <a:xfrm>
            <a:off x="10275113" y="1371600"/>
            <a:ext cx="914400" cy="914400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8" name="Image 5" descr="/home/claude/deck/chartba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7993" y="1554480"/>
            <a:ext cx="548640" cy="5486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732874" y="2423160"/>
            <a:ext cx="1998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Grafana Dashboard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9778594" y="2724912"/>
            <a:ext cx="19074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+ Cycle Time dashboards, ready to use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57200" y="379476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85800" y="402336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6" descr="/home/claude/deck/ey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142232"/>
            <a:ext cx="356616" cy="356616"/>
          </a:xfrm>
          <a:prstGeom prst="rect">
            <a:avLst/>
          </a:prstGeom>
        </p:spPr>
      </p:pic>
      <p:pic>
        <p:nvPicPr>
          <p:cNvPr id="34" name="Image 7" descr="/home/claude/deck/eye_00623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4142232"/>
            <a:ext cx="356616" cy="35661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463040" y="3794760"/>
            <a:ext cx="100858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project correlates GitLab commits/MRs with Jira issues + story points, so DORA metrics and cycle time are calculated per project — not just per repo.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457200" y="5074920"/>
            <a:ext cx="3575304" cy="594360"/>
          </a:xfrm>
          <a:prstGeom prst="roundRect">
            <a:avLst>
              <a:gd name="adj" fmla="val 769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66928" y="5184648"/>
            <a:ext cx="365760" cy="36576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38" name="Image 8" descr="/home/claude/deck/shield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5257800"/>
            <a:ext cx="219456" cy="21945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005840" y="507492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role must be above Guest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4306824" y="5074920"/>
            <a:ext cx="3575304" cy="594360"/>
          </a:xfrm>
          <a:prstGeom prst="roundRect">
            <a:avLst>
              <a:gd name="adj" fmla="val 769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4416552" y="5184648"/>
            <a:ext cx="365760" cy="36576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42" name="Image 9" descr="/home/claude/deck/clipboard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9704" y="5257800"/>
            <a:ext cx="219456" cy="21945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855464" y="507492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Jira Story Points field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8156448" y="5074920"/>
            <a:ext cx="3575304" cy="594360"/>
          </a:xfrm>
          <a:prstGeom prst="roundRect">
            <a:avLst>
              <a:gd name="adj" fmla="val 7692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8266176" y="5184648"/>
            <a:ext cx="365760" cy="36576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pic>
        <p:nvPicPr>
          <p:cNvPr id="46" name="Image 10" descr="/home/claude/deck/warning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9328" y="5257800"/>
            <a:ext cx="219456" cy="219456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8705088" y="507492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regex is required for DORA</a:t>
            </a:r>
            <a:endParaRPr lang="en-US" sz="1100" dirty="0"/>
          </a:p>
        </p:txBody>
      </p:sp>
      <p:sp>
        <p:nvSpPr>
          <p:cNvPr id="48" name="Text 35"/>
          <p:cNvSpPr/>
          <p:nvPr/>
        </p:nvSpPr>
        <p:spPr>
          <a:xfrm>
            <a:off x="457200" y="58978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access: http://localhost:3002  —  pre-built DORA &amp; Cycle Time dashboards ship out of the box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E9F7F0"/>
          </a:solidFill>
          <a:ln w="12700">
            <a:solidFill>
              <a:srgbClr val="E9F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74320"/>
            <a:ext cx="10725912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THROUGHPUT &amp; CYCLE TIME — THE EFFICIENCY LENS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01802"/>
            <a:ext cx="10725912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DevLake can calculate, and how we turn it into an efficiency signal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Measure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5760720" cy="548640"/>
          </a:xfrm>
          <a:prstGeom prst="roundRect">
            <a:avLst>
              <a:gd name="adj" fmla="val 833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1655064"/>
            <a:ext cx="384048" cy="384048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8" name="Image 0" descr="/home/claude/deck/contrac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1731874"/>
            <a:ext cx="230429" cy="230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6276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606040" y="162763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Count, Lead Time, Delivery Rate, Granularity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5760720" cy="548640"/>
          </a:xfrm>
          <a:prstGeom prst="roundRect">
            <a:avLst>
              <a:gd name="adj" fmla="val 833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" y="2276856"/>
            <a:ext cx="384048" cy="384048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3" name="Image 1" descr="/home/claude/deck/warnin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2" y="2353666"/>
            <a:ext cx="230429" cy="2304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224942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06040" y="224942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Age, Bugs/1k LOC, Incident Age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2816352"/>
            <a:ext cx="5760720" cy="548640"/>
          </a:xfrm>
          <a:prstGeom prst="roundRect">
            <a:avLst>
              <a:gd name="adj" fmla="val 833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6072" y="2898648"/>
            <a:ext cx="384048" cy="384048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18" name="Image 2" descr="/home/claude/deck/bran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2" y="2975458"/>
            <a:ext cx="230429" cy="2304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" y="287121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Activity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606040" y="287121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Commits, Authors, Lines Added/Deleted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438144"/>
            <a:ext cx="5760720" cy="548640"/>
          </a:xfrm>
          <a:prstGeom prst="roundRect">
            <a:avLst>
              <a:gd name="adj" fmla="val 833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76072" y="3520440"/>
            <a:ext cx="384048" cy="384048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3" name="Image 3" descr="/home/claude/deck/c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2" y="3597250"/>
            <a:ext cx="230429" cy="23042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78992" y="349300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MR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606040" y="349300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Time, Review Time, Time to Merge, Size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" y="4059936"/>
            <a:ext cx="5760720" cy="548640"/>
          </a:xfrm>
          <a:prstGeom prst="roundRect">
            <a:avLst>
              <a:gd name="adj" fmla="val 833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76072" y="4142232"/>
            <a:ext cx="384048" cy="384048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28" name="Image 4" descr="/home/claude/deck/sync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2" y="4219042"/>
            <a:ext cx="230429" cy="23042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78992" y="41148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606040" y="41148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Count, Duration, Success Rate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57200" y="4681728"/>
            <a:ext cx="5760720" cy="548640"/>
          </a:xfrm>
          <a:prstGeom prst="roundRect">
            <a:avLst>
              <a:gd name="adj" fmla="val 8333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76072" y="4764024"/>
            <a:ext cx="384048" cy="384048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33" name="Image 5" descr="/home/claude/deck/bullsey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2" y="4840834"/>
            <a:ext cx="230429" cy="23042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78992" y="473659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Core 4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2606040" y="473659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Frequency, Lead Time, MTTR, Change Failure Rate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6492240" y="123444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+ Cycle Time → Efficiency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6492240" y="1572768"/>
            <a:ext cx="5239512" cy="1051560"/>
          </a:xfrm>
          <a:prstGeom prst="roundRect">
            <a:avLst>
              <a:gd name="adj" fmla="val 5217"/>
            </a:avLst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656832" y="173736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6" descr="/home/claude/deck/char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8272" y="1828800"/>
            <a:ext cx="274320" cy="274320"/>
          </a:xfrm>
          <a:prstGeom prst="rect">
            <a:avLst/>
          </a:prstGeom>
        </p:spPr>
      </p:pic>
      <p:pic>
        <p:nvPicPr>
          <p:cNvPr id="40" name="Image 7" descr="/home/claude/deck/chart_00623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8272" y="182880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223760" y="1572768"/>
            <a:ext cx="4325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Gain % = (Baseline − AI-Period) / Baseline × 100</a:t>
            </a:r>
            <a:endParaRPr lang="en-US" sz="11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to Cycle Time (↓ better) and Throughput (↑ better)</a:t>
            </a:r>
            <a:endParaRPr lang="en-US" sz="1100" dirty="0"/>
          </a:p>
        </p:txBody>
      </p:sp>
      <p:sp>
        <p:nvSpPr>
          <p:cNvPr id="42" name="Text 32"/>
          <p:cNvSpPr/>
          <p:nvPr/>
        </p:nvSpPr>
        <p:spPr>
          <a:xfrm>
            <a:off x="6492240" y="2788920"/>
            <a:ext cx="5239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Before Declaring a Win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6492240" y="3090672"/>
            <a:ext cx="5239512" cy="566928"/>
          </a:xfrm>
          <a:prstGeom prst="roundRect">
            <a:avLst>
              <a:gd name="adj" fmla="val 806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601968" y="3200400"/>
            <a:ext cx="347472" cy="34747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5" name="Image 8" descr="/home/claude/deck/check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1462" y="3269894"/>
            <a:ext cx="208483" cy="208483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022592" y="3090672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 ↓ but PR Size/Review Depth stable — not shallower reviews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6492240" y="3767328"/>
            <a:ext cx="5239512" cy="566928"/>
          </a:xfrm>
          <a:prstGeom prst="roundRect">
            <a:avLst>
              <a:gd name="adj" fmla="val 806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49" name="Image 9" descr="/home/claude/deck/check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1462" y="3946550"/>
            <a:ext cx="208483" cy="208483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7022592" y="3767328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↑ but Bug Rate &amp; Change Failure Rate stable — not traded for defects</a:t>
            </a:r>
            <a:endParaRPr lang="en-US" sz="1000" dirty="0"/>
          </a:p>
        </p:txBody>
      </p:sp>
      <p:sp>
        <p:nvSpPr>
          <p:cNvPr id="51" name="Shape 39"/>
          <p:cNvSpPr/>
          <p:nvPr/>
        </p:nvSpPr>
        <p:spPr>
          <a:xfrm>
            <a:off x="6492240" y="4443984"/>
            <a:ext cx="5239512" cy="566928"/>
          </a:xfrm>
          <a:prstGeom prst="roundRect">
            <a:avLst>
              <a:gd name="adj" fmla="val 8065"/>
            </a:avLst>
          </a:prstGeom>
          <a:solidFill>
            <a:srgbClr val="F4FBF8"/>
          </a:solidFill>
          <a:ln w="9525">
            <a:solidFill>
              <a:srgbClr val="DCEEE5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6601968" y="4553712"/>
            <a:ext cx="347472" cy="347472"/>
          </a:xfrm>
          <a:prstGeom prst="ellipse">
            <a:avLst/>
          </a:prstGeom>
          <a:solidFill>
            <a:srgbClr val="00915A"/>
          </a:solidFill>
          <a:ln w="12700">
            <a:solidFill>
              <a:srgbClr val="00915A"/>
            </a:solidFill>
            <a:prstDash val="solid"/>
          </a:ln>
        </p:spPr>
      </p:sp>
      <p:pic>
        <p:nvPicPr>
          <p:cNvPr id="53" name="Image 10" descr="/home/claude/deck/check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1462" y="4623206"/>
            <a:ext cx="208483" cy="208483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7022592" y="4443984"/>
            <a:ext cx="4553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hold in same-period AI vs. non-AI comparison, not just before/after dates</a:t>
            </a:r>
            <a:endParaRPr lang="en-US" sz="1000" dirty="0"/>
          </a:p>
        </p:txBody>
      </p:sp>
      <p:sp>
        <p:nvSpPr>
          <p:cNvPr id="55" name="Shape 42"/>
          <p:cNvSpPr/>
          <p:nvPr/>
        </p:nvSpPr>
        <p:spPr>
          <a:xfrm>
            <a:off x="457200" y="5623560"/>
            <a:ext cx="11274552" cy="594360"/>
          </a:xfrm>
          <a:prstGeom prst="roundRect">
            <a:avLst>
              <a:gd name="adj" fmla="val 9231"/>
            </a:avLst>
          </a:prstGeom>
          <a:solidFill>
            <a:srgbClr val="00623C"/>
          </a:solidFill>
          <a:ln w="12700">
            <a:solidFill>
              <a:srgbClr val="00623C"/>
            </a:solidFill>
            <a:prstDash val="solid"/>
          </a:ln>
        </p:spPr>
      </p:sp>
      <p:sp>
        <p:nvSpPr>
          <p:cNvPr id="56" name="Shape 43"/>
          <p:cNvSpPr/>
          <p:nvPr/>
        </p:nvSpPr>
        <p:spPr>
          <a:xfrm>
            <a:off x="621792" y="5724144"/>
            <a:ext cx="402336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7" name="Image 11" descr="/home/claude/deck/trust_FFFF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259" y="5804611"/>
            <a:ext cx="241402" cy="241402"/>
          </a:xfrm>
          <a:prstGeom prst="rect">
            <a:avLst/>
          </a:prstGeom>
        </p:spPr>
      </p:pic>
      <p:pic>
        <p:nvPicPr>
          <p:cNvPr id="58" name="Image 12" descr="/home/claude/deck/trust_00623C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088" y="5806440"/>
            <a:ext cx="237744" cy="237744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1188720" y="5623560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DORA's Elite / High / Medium / Low benchmarks give an externally validated way to present these gains — not a self-defined scale.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2026-07-23T02:25:58Z</dcterms:created>
  <dcterms:modified xsi:type="dcterms:W3CDTF">2026-07-23T02:25:58Z</dcterms:modified>
</cp:coreProperties>
</file>