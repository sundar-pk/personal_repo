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 Cycle Time (hrs)</c:v>
                </c:pt>
              </c:strCache>
            </c:strRef>
          </c:tx>
          <c:spPr>
            <a:solidFill>
              <a:srgbClr val="00915A"/>
            </a:solidFill>
            <a:ln w="31750" cap="flat">
              <a:solidFill>
                <a:srgbClr val="0091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623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15A"/>
              </a:solidFill>
              <a:ln w="9525" cap="flat">
                <a:solidFill>
                  <a:srgbClr val="0091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Spr 1</c:v>
                  </c:pt>
                  <c:pt idx="1">
                    <c:v>Spr 2</c:v>
                  </c:pt>
                  <c:pt idx="2">
                    <c:v>Spr 3</c:v>
                  </c:pt>
                  <c:pt idx="3">
                    <c:v>Spr 4</c:v>
                  </c:pt>
                  <c:pt idx="4">
                    <c:v>Spr 5</c:v>
                  </c:pt>
                  <c:pt idx="5">
                    <c:v>Spr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46</c:v>
                </c:pt>
                <c:pt idx="2">
                  <c:v>44</c:v>
                </c:pt>
                <c:pt idx="3">
                  <c:v>34</c:v>
                </c:pt>
                <c:pt idx="4">
                  <c:v>30</c:v>
                </c:pt>
                <c:pt idx="5">
                  <c:v>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623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CHARTER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— AI-Led Engineering Efficiency Program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contrac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007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81328"/>
            <a:ext cx="10177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establish a credible, repeatable baseline of engineering efficiency — and prove, with evidence rather than anecdote, the productivity gained by infusing AI into the software delivery lifecycle.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1" name="Image 1" descr="/home/claude/deck/gau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81635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6974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Efficiency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322783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per application create a consistent story-point baseline before any AI comparison begins.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31636" y="251460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0236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6" name="Image 2" descr="/home/claude/deck/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81635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0316" y="26974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Efficiency Gains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60236" y="322783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+ Jira data, correlated through open-source tools, measures PR cycle time, commit-to-merge time, and LOC pre- vs. post-AI.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448056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68172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1" name="Image 3" descr="/home/claude/deck/bullsey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78231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6634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Defensibility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19379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weighted, documented scorecard removes bias from every tool and methodology choice made in this program.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31636" y="448056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60236" y="468172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6" name="Image 4" descr="/home/claude/deck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78231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00316" y="46634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Scalability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460236" y="519379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artifact built here — templates, scorecards, tagging rules — becomes the reusable kit for all 430+ applications.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VISIBILITY FOR THE CIO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program proves AI is measurably improving delivery — not just felt, but seen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1122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5623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Anchor-story baseline gives every metric a fixed, agreed reference point.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1" name="Image 1" descr="/home/claude/deck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2095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95351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refresh sprint-over-sprint — no manual reporting lag.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97764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5" name="Image 2" descr="/home/claude/deck/bulls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0682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05079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Same-period AI vs. non-AI tagging isolates the AI effect from other changes.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507492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3" descr="/home/claude/deck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540410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14807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Composite Efficiency Index rolls cycle time, PR time &amp; velocity into one CIO-readable number.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852160" y="1783080"/>
            <a:ext cx="5879592" cy="3566160"/>
          </a:xfrm>
          <a:prstGeom prst="roundRect">
            <a:avLst>
              <a:gd name="adj" fmla="val 153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80760" y="192024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 — Illustrative Trend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035040" y="2286000"/>
          <a:ext cx="5513832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Text 17"/>
          <p:cNvSpPr/>
          <p:nvPr/>
        </p:nvSpPr>
        <p:spPr>
          <a:xfrm>
            <a:off x="6080760" y="496519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only — populated from live data once the baseline is captured.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PILOT SETUP &amp; SPOC FORMATION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pilot applications and forming cross-functional ownership before work begins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594360"/>
          </a:xfrm>
          <a:prstGeom prst="roundRect">
            <a:avLst>
              <a:gd name="adj" fmla="val 9231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179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compas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2" y="1594714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1732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Identify the 2 pilot applications and confirm Agile delivery model for both.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Form SPOC Groups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3575304" cy="3657600"/>
          </a:xfrm>
          <a:prstGeom prst="roundRect">
            <a:avLst>
              <a:gd name="adj" fmla="val 153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2" name="Image 1" descr="/home/claude/deck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81635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33375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Story SPOC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3749040"/>
            <a:ext cx="32095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and draft anchor stories for each pilot application.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 against historical completed stories, then route to each application's PMO for formal sign-off.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06824" y="2514600"/>
            <a:ext cx="3575304" cy="3657600"/>
          </a:xfrm>
          <a:prstGeom prst="roundRect">
            <a:avLst>
              <a:gd name="adj" fmla="val 153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35424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7" name="Image 2" descr="/home/claude/deck/tool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81635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89704" y="33375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Exploration SPOCs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489704" y="3749040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0" name="Image 3" descr="/home/claude/deck/tool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382219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65192" y="37307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Ops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998464" y="373075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DevLake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489704" y="4325112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4" name="Image 4" descr="/home/claude/deck/contrac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439826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65192" y="43068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998464" y="430682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GrimoireLab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489704" y="4901184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8" name="Image 5" descr="/home/claude/deck/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497433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65192" y="488289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998464" y="4882896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ReportPortal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489704" y="5522976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feed one unified DevLake Grafana dashboard.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156448" y="2514600"/>
            <a:ext cx="3575304" cy="3657600"/>
          </a:xfrm>
          <a:prstGeom prst="roundRect">
            <a:avLst>
              <a:gd name="adj" fmla="val 153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85048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4" name="Image 6" descr="/home/claude/deck/sitema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816352"/>
            <a:ext cx="301752" cy="30175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39328" y="33375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Delivery-Model SPOC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339328" y="3749040"/>
            <a:ext cx="32095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SPOC to research the best-fit baseline approach for Kanban (cycle-time sizing) and Waterfall (actual-effort tiering) applications.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parallel with the Agile pilot so the cohort phase is ready to onboard both models.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PILOT &amp; PHASED ROLLOUT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pilot month — and the roadmap beyond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9334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usersco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918" y="20665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identified; SPOCs formed across anchor stories, tools, and delivery models.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04388" y="178308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2988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5122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3" name="Image 1" descr="/home/claude/deck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706" y="20665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2988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0148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signed off; DevLake vs. GrimoireLab bake-off scored.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80176" y="178308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08776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80910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2" descr="/home/claude/deck/syn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494" y="206654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08776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45936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begins; first sprint runs under AI tagging.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855964" y="178308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084564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156698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5" name="Image 3" descr="/home/claude/deck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7282" y="206654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84564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21724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read-out, playbook packaged for wider rollout.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3977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BEYOND THE PILOT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57200" y="438912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/home/claude/deck/compass_0062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45537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234440" y="48463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40080" y="5257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applications — Agile, prove the mechanism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032504" y="4389120"/>
            <a:ext cx="274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9"/>
          <p:cNvSpPr/>
          <p:nvPr/>
        </p:nvSpPr>
        <p:spPr>
          <a:xfrm>
            <a:off x="4306824" y="438912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489704" y="4572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5" descr="/home/claude/deck/rocket_0062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466344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84064" y="45537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5084064" y="48463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2–4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489704" y="5257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applications — add Kanban &amp; Waterfall variants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7882128" y="4389120"/>
            <a:ext cx="274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Shape 35"/>
          <p:cNvSpPr/>
          <p:nvPr/>
        </p:nvSpPr>
        <p:spPr>
          <a:xfrm>
            <a:off x="8156448" y="438912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00623C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339328" y="4572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6" descr="/home/claude/deck/sitemap_0062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4663440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933688" y="45537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8933688" y="48463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5+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8339328" y="5257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430+ application rollout across 2S IT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PARAMETERS &amp; TOOL TRUST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size work across delivery models — and why the tooling can be trusted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Readiness by Delivery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" name="Image 0" descr="/home/claude/deck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5237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80560" y="22585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22585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80160" y="25694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+ story points give a defensible, calibrated baseline today.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364992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63931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5" name="Image 1" descr="/home/claude/deck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73989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480560" y="3474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DF3E2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280160" y="37856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Shifting to cycle-time &amp; T-shirt sizing since sprints/velocity don't apply.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4581144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4855464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2" name="Image 2" descr="/home/claude/deck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956048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4672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480560" y="46908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DF3E2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690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280160" y="50017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is largely gut-based today — rebuilding on actual logged hours, not estimates, before it can anchor a baseline.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Trust — DevLake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309360" y="2148840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92240" y="24231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0" name="Image 3" descr="/home/claude/deck/tool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523744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22219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132320" y="25328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raw commit, MR/PR, and issue data directly from GitLab + Jira — no manual entry.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309360" y="3364992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92240" y="363931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5" name="Image 4" descr="/home/claude/deck/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739896"/>
            <a:ext cx="301752" cy="30175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32320" y="34381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calculates efficiency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132320" y="3749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PR cycle time, commit-to-merge time &amp; LOC-per-story-point, then compares pre- vs. post-AI windows.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309360" y="4581144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92240" y="4855464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0" name="Image 5" descr="/home/claude/deck/trus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956048"/>
            <a:ext cx="301752" cy="30175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32320" y="46542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be trusted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7132320" y="49651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is cross-checked against the manually validated anchor story before it feeds the CIO dashboard.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EFFORT, ONE UNIFIED 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tools, three functions, one Grafana dashboard — translated into hours, cost, and throughput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75304" cy="868680"/>
          </a:xfrm>
          <a:prstGeom prst="roundRect">
            <a:avLst>
              <a:gd name="adj" fmla="val 631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602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tool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16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64208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0116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Ops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4231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06824" y="1554480"/>
            <a:ext cx="3575304" cy="868680"/>
          </a:xfrm>
          <a:prstGeom prst="roundRect">
            <a:avLst>
              <a:gd name="adj" fmla="val 631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71416" y="17602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3" name="Image 1" descr="/home/claude/deck/contrac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8516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38344" y="1664208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GrimoireLab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38344" y="20116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306824" y="24231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56448" y="1554480"/>
            <a:ext cx="3575304" cy="868680"/>
          </a:xfrm>
          <a:prstGeom prst="roundRect">
            <a:avLst>
              <a:gd name="adj" fmla="val 631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7602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2" descr="/home/claude/deck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516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7968" y="1664208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ReportPortal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887968" y="20116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56448" y="24231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2697480"/>
            <a:ext cx="11274552" cy="731520"/>
          </a:xfrm>
          <a:prstGeom prst="roundRect">
            <a:avLst>
              <a:gd name="adj" fmla="val 75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" y="28163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/home/claude/deck/chartb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16936"/>
            <a:ext cx="301752" cy="301752"/>
          </a:xfrm>
          <a:prstGeom prst="rect">
            <a:avLst/>
          </a:prstGeom>
        </p:spPr>
      </p:pic>
      <p:pic>
        <p:nvPicPr>
          <p:cNvPr id="26" name="Image 4" descr="/home/claude/deck/chartbar_0062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291693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269748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Grafana Dashboard — DevLake, GrimoireLab &amp; ReportPortal data correlated by sprint / build ID into one CIO-facing view.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THIS VALUE SHOWS UP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457200" y="393192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5800" y="4133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/home/claude/deck/money_0062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2452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41605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 Angle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85800" y="4663440"/>
            <a:ext cx="50429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hrs saved × blended rate ($75/hr) ≈ $63,000 / month reclaimed engineering cost across the 2 pilot apps.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231636" y="393192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00623C"/>
          </a:solidFill>
          <a:ln w="12700">
            <a:solidFill>
              <a:srgbClr val="00623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60236" y="4133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6" descr="/home/claude/deck/rocket_0062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224528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00316" y="41605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Angle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60236" y="4663440"/>
            <a:ext cx="50429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hrs ÷ ~16 hrs/story point ≈ 52 extra story points of delivery capacity freed up per month — no added headcount.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57200" y="56235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above are illustrative — the pilot will substitute live tool-measured cycle time, PR volume, and blended rate.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2026-07-19T13:25:19Z</dcterms:created>
  <dcterms:modified xsi:type="dcterms:W3CDTF">2026-07-19T13:25:19Z</dcterms:modified>
</cp:coreProperties>
</file>