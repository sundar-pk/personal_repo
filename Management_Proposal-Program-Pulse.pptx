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53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89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415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238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CHARTER &amp; STRUCTURE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725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— AI-Led Engineering Efficiency Program: Proposal for Management Review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2646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claude/deck/contrac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1790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32588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Charter: Establish a credible, repeatable baseline of engineering efficiency and prove the productivity gained from infusing AI into the delivery lifecycle — with evidence, not anecdote.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19456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Structure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606040"/>
            <a:ext cx="2647188" cy="2331720"/>
          </a:xfrm>
          <a:prstGeom prst="roundRect">
            <a:avLst>
              <a:gd name="adj" fmla="val 235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blurRad="508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552194" y="2788920"/>
            <a:ext cx="457200" cy="45720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2" name="Image 1" descr="/home/claude/deck/compas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634" y="2880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3355848"/>
            <a:ext cx="2647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3648456"/>
            <a:ext cx="2464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Efficiency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66928" y="3977640"/>
            <a:ext cx="24277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pilot applications; draft anchor stories; standardize commit-message &amp; PR conventions across teams.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104388" y="2606040"/>
            <a:ext cx="228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3332988" y="2606040"/>
            <a:ext cx="2647188" cy="2331720"/>
          </a:xfrm>
          <a:prstGeom prst="roundRect">
            <a:avLst>
              <a:gd name="adj" fmla="val 235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blurRad="508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427982" y="2788920"/>
            <a:ext cx="457200" cy="45720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9" name="Image 2" descr="/home/claude/deck/tool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422" y="28803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32988" y="3355848"/>
            <a:ext cx="2647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424428" y="3648456"/>
            <a:ext cx="2464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PoC / Evaluation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442716" y="3977640"/>
            <a:ext cx="24277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DevLake vs. GrimoireLab bake-off scored; ReportPortal set up for test-execution data.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980176" y="2606040"/>
            <a:ext cx="228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208776" y="2606040"/>
            <a:ext cx="2647188" cy="2331720"/>
          </a:xfrm>
          <a:prstGeom prst="roundRect">
            <a:avLst>
              <a:gd name="adj" fmla="val 235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blurRad="508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303770" y="2788920"/>
            <a:ext cx="457200" cy="45720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6" name="Image 3" descr="/home/claude/deck/sync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5210" y="288036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208776" y="3355848"/>
            <a:ext cx="2647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300216" y="3648456"/>
            <a:ext cx="2464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318504" y="3977640"/>
            <a:ext cx="24277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AI-tagging convention goes live; sprints run under tracking; data validated weekly.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855964" y="2606040"/>
            <a:ext cx="228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9084564" y="2606040"/>
            <a:ext cx="2647188" cy="2331720"/>
          </a:xfrm>
          <a:prstGeom prst="roundRect">
            <a:avLst>
              <a:gd name="adj" fmla="val 235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blurRad="508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0179558" y="2788920"/>
            <a:ext cx="457200" cy="45720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33" name="Image 4" descr="/home/claude/deck/chartba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0998" y="288036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084564" y="3355848"/>
            <a:ext cx="2647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9176004" y="3648456"/>
            <a:ext cx="2464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 &amp; Packaging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194292" y="3977640"/>
            <a:ext cx="24277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read-out to management; playbook packaged for cohort rollout.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457200" y="653796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Proposal  •  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EVALUATION — DATA FLOW, RESULTS &amp; VALIDATION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725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tool ingests, what it produces, and how we confirm the numbers are trustworthy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587496" cy="2331720"/>
          </a:xfrm>
          <a:prstGeom prst="roundRect">
            <a:avLst>
              <a:gd name="adj" fmla="val 235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blurRad="508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27632"/>
            <a:ext cx="438912" cy="438912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7" name="Image 0" descr="/home/claude/deck/tool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" y="171541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627632"/>
            <a:ext cx="2718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Tool (DevLake)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70432" y="1920240"/>
            <a:ext cx="2718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&amp; Ops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2240280"/>
            <a:ext cx="3313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2432304"/>
            <a:ext cx="3313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commits, MRs/PRs, Jira issues + story points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2999232"/>
            <a:ext cx="3313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" y="3191256"/>
            <a:ext cx="3313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cycle time, commit-to-merge time, LOC/story-point, DORA metrics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00728" y="1463040"/>
            <a:ext cx="3587496" cy="2331720"/>
          </a:xfrm>
          <a:prstGeom prst="roundRect">
            <a:avLst>
              <a:gd name="adj" fmla="val 235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blurRad="508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83608" y="1627632"/>
            <a:ext cx="438912" cy="438912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6" name="Image 1" descr="/home/claude/deck/contrac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390" y="1715414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13960" y="1627632"/>
            <a:ext cx="2718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Tool (GrimoireLab)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013960" y="1920240"/>
            <a:ext cx="2718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437888" y="2240280"/>
            <a:ext cx="3313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437888" y="2432304"/>
            <a:ext cx="3313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 requirement pages, Slack/collaboration activity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437888" y="2999232"/>
            <a:ext cx="3313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437888" y="3191256"/>
            <a:ext cx="3313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stabilization time, contributor activity patterns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144256" y="1463040"/>
            <a:ext cx="3587496" cy="2331720"/>
          </a:xfrm>
          <a:prstGeom prst="roundRect">
            <a:avLst>
              <a:gd name="adj" fmla="val 235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blurRad="508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327136" y="1627632"/>
            <a:ext cx="438912" cy="438912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5" name="Image 2" descr="/home/claude/deck/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4918" y="1715414"/>
            <a:ext cx="263347" cy="26334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857488" y="1627632"/>
            <a:ext cx="2718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Tool (ReportPortal)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857488" y="1920240"/>
            <a:ext cx="2718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281416" y="2240280"/>
            <a:ext cx="3313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8281416" y="2432304"/>
            <a:ext cx="3313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Selenium, Playwright &amp; Cypress test-execution results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281416" y="2999232"/>
            <a:ext cx="3313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281416" y="3191256"/>
            <a:ext cx="3313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 duration, pass/fail trend, flaky-test detection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57200" y="3886200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outputs correlate by sprint / build ID into one unified Grafana dashboard.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57200" y="4123944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names above are current front-runners for each category — final selection confirmed via the Week 2 bake-off.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57200" y="436168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Cross-Validating the Results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457200" y="4709160"/>
            <a:ext cx="2681478" cy="822960"/>
          </a:xfrm>
          <a:prstGeom prst="roundRect">
            <a:avLst>
              <a:gd name="adj" fmla="val 5556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66928" y="4937760"/>
            <a:ext cx="365760" cy="36576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37" name="Image 3" descr="/home/claude/deck/clipboar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010912"/>
            <a:ext cx="219456" cy="21945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87552" y="4764024"/>
            <a:ext cx="20413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Anchor-story numbers cross-checked against tool-reported cycle time before trusting the baseline.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3321558" y="4709160"/>
            <a:ext cx="2681478" cy="822960"/>
          </a:xfrm>
          <a:prstGeom prst="roundRect">
            <a:avLst>
              <a:gd name="adj" fmla="val 5556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3431286" y="4937760"/>
            <a:ext cx="365760" cy="36576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41" name="Image 4" descr="/home/claude/deck/userche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4438" y="5010912"/>
            <a:ext cx="219456" cy="219456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3851910" y="4764024"/>
            <a:ext cx="20413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 validates each anchor story and the tool-selection scorecard before results are shared upward.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185916" y="4709160"/>
            <a:ext cx="2681478" cy="822960"/>
          </a:xfrm>
          <a:prstGeom prst="roundRect">
            <a:avLst>
              <a:gd name="adj" fmla="val 5556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295644" y="4937760"/>
            <a:ext cx="365760" cy="36576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45" name="Image 5" descr="/home/claude/deck/bullsey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8796" y="5010912"/>
            <a:ext cx="219456" cy="21945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716268" y="4764024"/>
            <a:ext cx="20413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Same-period AI vs. non-AI tagging isolates the AI effect from other concurrent changes.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9050274" y="4709160"/>
            <a:ext cx="2681478" cy="822960"/>
          </a:xfrm>
          <a:prstGeom prst="roundRect">
            <a:avLst>
              <a:gd name="adj" fmla="val 5556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9160002" y="4937760"/>
            <a:ext cx="365760" cy="36576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49" name="Image 6" descr="/home/claude/deck/ey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3154" y="5010912"/>
            <a:ext cx="219456" cy="219456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9580626" y="4764024"/>
            <a:ext cx="204139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spot-check of a sample of PRs/tests each sprint to confirm dashboard figures match reality.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457200" y="5669280"/>
            <a:ext cx="11274552" cy="777240"/>
          </a:xfrm>
          <a:prstGeom prst="roundRect">
            <a:avLst>
              <a:gd name="adj" fmla="val 5882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594360" y="5742432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Alternative tools also being piloted by SMEs for each category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594360" y="5980176"/>
            <a:ext cx="3666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DORA: </a:t>
            </a: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(Open Source), Faros AI (Community Edition)</a:t>
            </a:r>
            <a:endParaRPr lang="en-US" sz="1000" dirty="0"/>
          </a:p>
        </p:txBody>
      </p:sp>
      <p:sp>
        <p:nvSpPr>
          <p:cNvPr id="54" name="Text 45"/>
          <p:cNvSpPr/>
          <p:nvPr/>
        </p:nvSpPr>
        <p:spPr>
          <a:xfrm>
            <a:off x="4398264" y="5980176"/>
            <a:ext cx="3666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BA: </a:t>
            </a: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CHAOSS Augur, Atlassian Analytics (native Confluence/Jira reporting)</a:t>
            </a:r>
            <a:endParaRPr lang="en-US" sz="1000" dirty="0"/>
          </a:p>
        </p:txBody>
      </p:sp>
      <p:sp>
        <p:nvSpPr>
          <p:cNvPr id="55" name="Text 46"/>
          <p:cNvSpPr/>
          <p:nvPr/>
        </p:nvSpPr>
        <p:spPr>
          <a:xfrm>
            <a:off x="8202168" y="5980176"/>
            <a:ext cx="3666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QA: </a:t>
            </a: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Allure Framework, Zebrunner (Community Edition)</a:t>
            </a:r>
            <a:endParaRPr lang="en-US" sz="1000" dirty="0"/>
          </a:p>
        </p:txBody>
      </p:sp>
      <p:sp>
        <p:nvSpPr>
          <p:cNvPr id="56" name="Text 47"/>
          <p:cNvSpPr/>
          <p:nvPr/>
        </p:nvSpPr>
        <p:spPr>
          <a:xfrm>
            <a:off x="457200" y="653796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Proposal  •  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COMPILING THROUGHPUT ACROSS TOOLS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7259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from three sources rolls up into one throughput view — and what's next for delivery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Compiling the Throughput Angle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saved in each function are combined, then converted into reclaimed delivery capacity.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6035040" cy="475488"/>
          </a:xfrm>
          <a:prstGeom prst="roundRect">
            <a:avLst>
              <a:gd name="adj" fmla="val 9615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31136"/>
            <a:ext cx="365760" cy="36576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9" name="Image 0" descr="/home/claude/deck/tool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304288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17627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Tool (DevLake)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0" y="21762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cycle-time hours saved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761488"/>
            <a:ext cx="6035040" cy="475488"/>
          </a:xfrm>
          <a:prstGeom prst="roundRect">
            <a:avLst>
              <a:gd name="adj" fmla="val 9615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2816352"/>
            <a:ext cx="365760" cy="36576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4" name="Image 1" descr="/home/claude/deck/contrac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88950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7280" y="27614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Tool (GrimoireLab)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74720" y="27614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Requirement-stabilization hours saved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3346704"/>
            <a:ext cx="6035040" cy="475488"/>
          </a:xfrm>
          <a:prstGeom prst="roundRect">
            <a:avLst>
              <a:gd name="adj" fmla="val 9615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" y="3401568"/>
            <a:ext cx="365760" cy="36576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9" name="Image 2" descr="/home/claude/deck/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47472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34670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Tool (ReportPortal)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474720" y="334670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Test-execution hours saved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4041648"/>
            <a:ext cx="6035040" cy="868680"/>
          </a:xfrm>
          <a:prstGeom prst="roundRect">
            <a:avLst>
              <a:gd name="adj" fmla="val 6316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1792" y="422452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/home/claude/deck/chartb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315968"/>
            <a:ext cx="274320" cy="274320"/>
          </a:xfrm>
          <a:prstGeom prst="rect">
            <a:avLst/>
          </a:prstGeom>
        </p:spPr>
      </p:pic>
      <p:pic>
        <p:nvPicPr>
          <p:cNvPr id="25" name="Image 4" descr="/home/claude/deck/chartbar_0062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31596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404164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Hours Saved (Dev + BA + QA) ÷ ~16 hrs per story point = extra story-point capacity freed up per month.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720840" y="1463040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Delivery-Model Process to Identify in This Pilot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720840" y="1783080"/>
            <a:ext cx="5010912" cy="1417320"/>
          </a:xfrm>
          <a:prstGeom prst="roundRect">
            <a:avLst>
              <a:gd name="adj" fmla="val 3871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blurRad="508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903720" y="1947672"/>
            <a:ext cx="420624" cy="42062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30" name="Image 5" descr="/home/claude/deck/sync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7845" y="2031797"/>
            <a:ext cx="252374" cy="25237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06640" y="1947672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6903720" y="2441448"/>
            <a:ext cx="45994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cycle-time bands and T-shirt sizing (S/M/L/XL) from historical tickets, since sprints/velocity don't apply.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720840" y="3429000"/>
            <a:ext cx="5010912" cy="1417320"/>
          </a:xfrm>
          <a:prstGeom prst="roundRect">
            <a:avLst>
              <a:gd name="adj" fmla="val 3871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  <a:effectLst>
            <a:outerShdw blurRad="508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903720" y="3593592"/>
            <a:ext cx="420624" cy="42062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35" name="Image 6" descr="/home/claude/deck/warning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7845" y="3677717"/>
            <a:ext cx="252374" cy="25237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406640" y="3593592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6903720" y="4087368"/>
            <a:ext cx="459943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gut-based estimates with actual logged effort per work package; define objective sizing tiers (requirements count, module count).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6720840" y="4892040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run as a parallel SPOC exploration track in the pilot, ready to onboard in the cohort phase.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57200" y="553212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00623C"/>
          </a:solidFill>
          <a:ln w="12700">
            <a:solidFill>
              <a:srgbClr val="00623C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21792" y="56327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7" descr="/home/claude/deck/rocket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917" y="5716829"/>
            <a:ext cx="252374" cy="252374"/>
          </a:xfrm>
          <a:prstGeom prst="rect">
            <a:avLst/>
          </a:prstGeom>
        </p:spPr>
      </p:pic>
      <p:pic>
        <p:nvPicPr>
          <p:cNvPr id="42" name="Image 8" descr="/home/claude/deck/rocket_00623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88" y="5715000"/>
            <a:ext cx="256032" cy="25603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1188720" y="5532120"/>
            <a:ext cx="103601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for 2027: scale this program from 2 pilot applications to 25 applications across 2S IT.</a:t>
            </a:r>
            <a:endParaRPr lang="en-US" sz="1200" dirty="0"/>
          </a:p>
        </p:txBody>
      </p:sp>
      <p:sp>
        <p:nvSpPr>
          <p:cNvPr id="44" name="Text 33"/>
          <p:cNvSpPr/>
          <p:nvPr/>
        </p:nvSpPr>
        <p:spPr>
          <a:xfrm>
            <a:off x="457200" y="653796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Proposal  •  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8892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82996" y="301752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deck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926" y="318211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1605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ANNEXURE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Proposal  •  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DOMAIN DATA TO COMPILED EFFICIENCY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10725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Dev, BA &amp; QA values are pulled, normalized, compiled — and why this mechanism holds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Values Are Pulled &amp; Normalized to Hours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6949440" cy="566928"/>
          </a:xfrm>
          <a:prstGeom prst="roundRect">
            <a:avLst>
              <a:gd name="adj" fmla="val 8065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1554480"/>
            <a:ext cx="384048" cy="384048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8" name="Image 0" descr="/home/claude/deck/tool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2" y="1631290"/>
            <a:ext cx="230429" cy="2304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50876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691640" y="150876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DevLake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88920" y="150876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cycle time (baseline vs. AI-period, per PR)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80760" y="15087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Δhrs × PR volume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121408"/>
            <a:ext cx="6949440" cy="566928"/>
          </a:xfrm>
          <a:prstGeom prst="roundRect">
            <a:avLst>
              <a:gd name="adj" fmla="val 8065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" y="2212848"/>
            <a:ext cx="384048" cy="384048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5" name="Image 1" descr="/home/claude/deck/contrac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2" y="2289658"/>
            <a:ext cx="230429" cy="23042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51560" y="216712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691640" y="216712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GrimoireLab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788920" y="216712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stabilization time (page create → approve)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080760" y="21671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Δhrs × req. volume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57200" y="2779776"/>
            <a:ext cx="6949440" cy="566928"/>
          </a:xfrm>
          <a:prstGeom prst="roundRect">
            <a:avLst>
              <a:gd name="adj" fmla="val 8065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76072" y="2871216"/>
            <a:ext cx="384048" cy="384048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2" name="Image 2" descr="/home/claude/deck/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2" y="2948026"/>
            <a:ext cx="230429" cy="23042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1560" y="282549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691640" y="2825496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ReportPortal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2788920" y="2825496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Test-suite execution duration per build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080760" y="282549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Δhrs × run frequency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543800" y="1188720"/>
            <a:ext cx="4187952" cy="2176272"/>
          </a:xfrm>
          <a:prstGeom prst="roundRect">
            <a:avLst>
              <a:gd name="adj" fmla="val 2521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726680" y="13258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3" descr="/home/claude/deck/chartb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832" y="1399032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183880" y="132588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Efficiency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726680" y="1737360"/>
            <a:ext cx="382219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Hours Saved = Dev + BA + QA hours saved (same sprint / build ID).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hrs per story point = Throughput gain.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blended rate = Cost savings.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57200" y="3621024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Mechanism Holds Up to Challenge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492240" y="3621024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— What This Requires From Teams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457200" y="3913632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66928" y="3977640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36" name="Image 4" descr="/home/claude/deck/bullsey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5" y="4043477"/>
            <a:ext cx="197510" cy="19751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87552" y="39136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triangulation (Dev+BA+QA) — not a single metric a critic can dismiss as cherry-picked.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457200" y="4443984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566928" y="4507992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40" name="Image 5" descr="/home/claude/deck/clipboard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5" y="4573829"/>
            <a:ext cx="197510" cy="19751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87552" y="44439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Anchor-story calibration replaces “it felt faster” anecdote with a fixed, agreed reference point.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57200" y="4974336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566928" y="5038344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44" name="Image 6" descr="/home/claude/deck/sync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765" y="5104181"/>
            <a:ext cx="197510" cy="19751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987552" y="49743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Same-period AI vs. non-AI tagging isolates cause from coincidence, unlike simple before/after dates.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457200" y="5504688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566928" y="5568696"/>
            <a:ext cx="329184" cy="329184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48" name="Image 7" descr="/home/claude/deck/trust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765" y="5634533"/>
            <a:ext cx="197510" cy="19751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987552" y="55046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traces to a tool-pulled timestamp — audit-ready, not self-reported estimates.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6492240" y="3913632"/>
            <a:ext cx="5239512" cy="457200"/>
          </a:xfrm>
          <a:prstGeom prst="roundRect">
            <a:avLst>
              <a:gd name="adj" fmla="val 10000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6601968" y="3977640"/>
            <a:ext cx="329184" cy="329184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52" name="Image 8" descr="/home/claude/deck/warning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805" y="4043477"/>
            <a:ext cx="197510" cy="19751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7022592" y="3913632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Commit-message/PR &amp; AI-tagging discipline must be followed consistently — gaps break attribution.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6492240" y="4443984"/>
            <a:ext cx="5239512" cy="457200"/>
          </a:xfrm>
          <a:prstGeom prst="roundRect">
            <a:avLst>
              <a:gd name="adj" fmla="val 10000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6601968" y="4507992"/>
            <a:ext cx="329184" cy="329184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56" name="Image 9" descr="/home/claude/deck/clock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7805" y="4573829"/>
            <a:ext cx="197510" cy="19751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7022592" y="4443984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stories can drift; periodic re-validation is required to keep the baseline representative.</a:t>
            </a:r>
            <a:endParaRPr lang="en-US" sz="1000" dirty="0"/>
          </a:p>
        </p:txBody>
      </p:sp>
      <p:sp>
        <p:nvSpPr>
          <p:cNvPr id="58" name="Shape 46"/>
          <p:cNvSpPr/>
          <p:nvPr/>
        </p:nvSpPr>
        <p:spPr>
          <a:xfrm>
            <a:off x="6492240" y="4974336"/>
            <a:ext cx="5239512" cy="457200"/>
          </a:xfrm>
          <a:prstGeom prst="roundRect">
            <a:avLst>
              <a:gd name="adj" fmla="val 10000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59" name="Shape 47"/>
          <p:cNvSpPr/>
          <p:nvPr/>
        </p:nvSpPr>
        <p:spPr>
          <a:xfrm>
            <a:off x="6601968" y="5038344"/>
            <a:ext cx="329184" cy="329184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60" name="Image 10" descr="/home/claude/deck/branch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7805" y="5104181"/>
            <a:ext cx="197510" cy="197510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7022592" y="4974336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Cross-tool correlation depends on consistent sprint/build IDs across GitLab, Jira &amp; ReportPortal.</a:t>
            </a:r>
            <a:endParaRPr lang="en-US" sz="1000" dirty="0"/>
          </a:p>
        </p:txBody>
      </p:sp>
      <p:sp>
        <p:nvSpPr>
          <p:cNvPr id="62" name="Shape 49"/>
          <p:cNvSpPr/>
          <p:nvPr/>
        </p:nvSpPr>
        <p:spPr>
          <a:xfrm>
            <a:off x="6492240" y="5504688"/>
            <a:ext cx="5239512" cy="457200"/>
          </a:xfrm>
          <a:prstGeom prst="roundRect">
            <a:avLst>
              <a:gd name="adj" fmla="val 10000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63" name="Shape 50"/>
          <p:cNvSpPr/>
          <p:nvPr/>
        </p:nvSpPr>
        <p:spPr>
          <a:xfrm>
            <a:off x="6601968" y="5568696"/>
            <a:ext cx="329184" cy="329184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64" name="Image 11" descr="/home/claude/deck/userscog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7805" y="5634533"/>
            <a:ext cx="197510" cy="197510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7022592" y="5504688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adoption is a team behavior change — inconsistent uptake means incomplete data, not false data.</a:t>
            </a:r>
            <a:endParaRPr lang="en-US" sz="1000" dirty="0"/>
          </a:p>
        </p:txBody>
      </p:sp>
      <p:sp>
        <p:nvSpPr>
          <p:cNvPr id="66" name="Text 52"/>
          <p:cNvSpPr/>
          <p:nvPr/>
        </p:nvSpPr>
        <p:spPr>
          <a:xfrm>
            <a:off x="457200" y="653796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Proposal  •  5 /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8892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82996" y="301752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deck/clipbo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926" y="318211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1605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200" dirty="0" smtClean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India COE 2S IT AI Program Annexure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Pulse Proposal  •  4 / 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77972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 IT — AI PROGRAM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 Snapshot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adoption and delivery — where the entity stands today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2204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8E1"/>
            </a:solidFill>
            <a:prstDash val="solid"/>
          </a:ln>
          <a:effectLst>
            <a:outerShdw blurRad="76200" dist="25400" dir="5400000" algn="bl" rotWithShape="0">
              <a:srgbClr val="1F262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2622042" cy="54864"/>
          </a:xfrm>
          <a:prstGeom prst="roundRect">
            <a:avLst/>
          </a:prstGeom>
          <a:solidFill>
            <a:srgbClr val="00915A"/>
          </a:solidFill>
          <a:ln/>
        </p:spPr>
      </p:sp>
      <p:sp>
        <p:nvSpPr>
          <p:cNvPr id="8" name="Shape 6"/>
          <p:cNvSpPr/>
          <p:nvPr/>
        </p:nvSpPr>
        <p:spPr>
          <a:xfrm>
            <a:off x="1548765" y="1618488"/>
            <a:ext cx="621792" cy="621792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9" name="Image 0" descr="/home/claude/ppt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816" y="1705539"/>
            <a:ext cx="447690" cy="4476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331720"/>
            <a:ext cx="24391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610+ / 900+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2679192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AI community members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71850" y="1417320"/>
            <a:ext cx="262204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8E1"/>
            </a:solidFill>
            <a:prstDash val="solid"/>
          </a:ln>
          <a:effectLst>
            <a:outerShdw blurRad="76200" dist="25400" dir="5400000" algn="bl" rotWithShape="0">
              <a:srgbClr val="1F262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71850" y="1417320"/>
            <a:ext cx="2622042" cy="54864"/>
          </a:xfrm>
          <a:prstGeom prst="roundRect">
            <a:avLst/>
          </a:prstGeom>
          <a:solidFill>
            <a:srgbClr val="00915A"/>
          </a:solidFill>
          <a:ln/>
        </p:spPr>
      </p:sp>
      <p:sp>
        <p:nvSpPr>
          <p:cNvPr id="14" name="Shape 11"/>
          <p:cNvSpPr/>
          <p:nvPr/>
        </p:nvSpPr>
        <p:spPr>
          <a:xfrm>
            <a:off x="4371975" y="1618488"/>
            <a:ext cx="621792" cy="621792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15" name="Image 1" descr="/home/claude/ppt/icons/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026" y="1705539"/>
            <a:ext cx="447690" cy="44769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63290" y="2331720"/>
            <a:ext cx="24391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509010" y="2679192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+ Active adoption (target 80%)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95060" y="1417320"/>
            <a:ext cx="262204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8E1"/>
            </a:solidFill>
            <a:prstDash val="solid"/>
          </a:ln>
          <a:effectLst>
            <a:outerShdw blurRad="76200" dist="25400" dir="5400000" algn="bl" rotWithShape="0">
              <a:srgbClr val="1F262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95060" y="1417320"/>
            <a:ext cx="2622042" cy="54864"/>
          </a:xfrm>
          <a:prstGeom prst="roundRect">
            <a:avLst/>
          </a:prstGeom>
          <a:solidFill>
            <a:srgbClr val="00915A"/>
          </a:solidFill>
          <a:ln/>
        </p:spPr>
      </p:sp>
      <p:sp>
        <p:nvSpPr>
          <p:cNvPr id="20" name="Shape 16"/>
          <p:cNvSpPr/>
          <p:nvPr/>
        </p:nvSpPr>
        <p:spPr>
          <a:xfrm>
            <a:off x="7195185" y="1618488"/>
            <a:ext cx="621792" cy="621792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21" name="Image 2" descr="/home/claude/ppt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2236" y="1705539"/>
            <a:ext cx="447690" cy="4476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86500" y="2331720"/>
            <a:ext cx="24391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430+ / 1,020+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332220" y="2679192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Assistant entitlements issued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018270" y="1417320"/>
            <a:ext cx="262204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8E1"/>
            </a:solidFill>
            <a:prstDash val="solid"/>
          </a:ln>
          <a:effectLst>
            <a:outerShdw blurRad="76200" dist="25400" dir="5400000" algn="bl" rotWithShape="0">
              <a:srgbClr val="1F262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018270" y="1417320"/>
            <a:ext cx="2622042" cy="54864"/>
          </a:xfrm>
          <a:prstGeom prst="roundRect">
            <a:avLst/>
          </a:prstGeom>
          <a:solidFill>
            <a:srgbClr val="00915A"/>
          </a:solidFill>
          <a:ln/>
        </p:spPr>
      </p:sp>
      <p:sp>
        <p:nvSpPr>
          <p:cNvPr id="26" name="Shape 21"/>
          <p:cNvSpPr/>
          <p:nvPr/>
        </p:nvSpPr>
        <p:spPr>
          <a:xfrm>
            <a:off x="10018395" y="1618488"/>
            <a:ext cx="621792" cy="621792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27" name="Image 3" descr="/home/claude/ppt/icons/gr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5446" y="1705539"/>
            <a:ext cx="447690" cy="44769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09710" y="2331720"/>
            <a:ext cx="24391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2,800+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155430" y="2679192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training sessions / participations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48640" y="3401568"/>
            <a:ext cx="262204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8E1"/>
            </a:solidFill>
            <a:prstDash val="solid"/>
          </a:ln>
          <a:effectLst>
            <a:outerShdw blurRad="76200" dist="25400" dir="5400000" algn="bl" rotWithShape="0">
              <a:srgbClr val="1F2622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48640" y="3401568"/>
            <a:ext cx="2622042" cy="54864"/>
          </a:xfrm>
          <a:prstGeom prst="roundRect">
            <a:avLst/>
          </a:prstGeom>
          <a:solidFill>
            <a:srgbClr val="00915A"/>
          </a:solidFill>
          <a:ln/>
        </p:spPr>
      </p:sp>
      <p:sp>
        <p:nvSpPr>
          <p:cNvPr id="32" name="Shape 26"/>
          <p:cNvSpPr/>
          <p:nvPr/>
        </p:nvSpPr>
        <p:spPr>
          <a:xfrm>
            <a:off x="1548765" y="3602736"/>
            <a:ext cx="621792" cy="621792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33" name="Image 4" descr="/home/claude/ppt/icons/co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5816" y="3689787"/>
            <a:ext cx="447690" cy="44769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0080" y="4315968"/>
            <a:ext cx="24391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</a:t>
            </a:r>
            <a:r>
              <a:rPr lang="en-US" sz="1050" b="1" dirty="0" smtClean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AI Use cases 2025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685800" y="4663440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Coras MCP </a:t>
            </a:r>
            <a:r>
              <a:rPr lang="en-US" sz="1200" dirty="0" smtClean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Code Quality Assistant, ADICT RAG 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3371850" y="3401568"/>
            <a:ext cx="262204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8E1"/>
            </a:solidFill>
            <a:prstDash val="solid"/>
          </a:ln>
          <a:effectLst>
            <a:outerShdw blurRad="76200" dist="25400" dir="5400000" algn="bl" rotWithShape="0">
              <a:srgbClr val="1F2622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371850" y="3401568"/>
            <a:ext cx="2622042" cy="54864"/>
          </a:xfrm>
          <a:prstGeom prst="roundRect">
            <a:avLst/>
          </a:prstGeom>
          <a:solidFill>
            <a:srgbClr val="00915A"/>
          </a:solidFill>
          <a:ln/>
        </p:spPr>
      </p:sp>
      <p:sp>
        <p:nvSpPr>
          <p:cNvPr id="38" name="Shape 31"/>
          <p:cNvSpPr/>
          <p:nvPr/>
        </p:nvSpPr>
        <p:spPr>
          <a:xfrm>
            <a:off x="4371975" y="3602736"/>
            <a:ext cx="621792" cy="621792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39" name="Image 5" descr="/home/claude/ppt/icons/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9026" y="3689787"/>
            <a:ext cx="447690" cy="44769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3463290" y="4315968"/>
            <a:ext cx="24391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</a:t>
            </a:r>
            <a:r>
              <a:rPr lang="en-US" sz="1600" b="1" dirty="0" smtClean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3509010" y="4663440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2S IT Prompt library with EFT’s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6195060" y="3401568"/>
            <a:ext cx="262204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8E1"/>
            </a:solidFill>
            <a:prstDash val="solid"/>
          </a:ln>
          <a:effectLst>
            <a:outerShdw blurRad="76200" dist="25400" dir="5400000" algn="bl" rotWithShape="0">
              <a:srgbClr val="1F2622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195060" y="3401568"/>
            <a:ext cx="2622042" cy="54864"/>
          </a:xfrm>
          <a:prstGeom prst="roundRect">
            <a:avLst/>
          </a:prstGeom>
          <a:solidFill>
            <a:srgbClr val="00915A"/>
          </a:solidFill>
          <a:ln/>
        </p:spPr>
      </p:sp>
      <p:sp>
        <p:nvSpPr>
          <p:cNvPr id="44" name="Shape 36"/>
          <p:cNvSpPr/>
          <p:nvPr/>
        </p:nvSpPr>
        <p:spPr>
          <a:xfrm>
            <a:off x="7195185" y="3602736"/>
            <a:ext cx="621792" cy="621792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45" name="Image 6" descr="/home/claude/ppt/icons/fla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2236" y="3689787"/>
            <a:ext cx="447690" cy="44769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6286500" y="4315968"/>
            <a:ext cx="24391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47" name="Text 38"/>
          <p:cNvSpPr/>
          <p:nvPr/>
        </p:nvSpPr>
        <p:spPr>
          <a:xfrm>
            <a:off x="6332220" y="4663440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in Lot 1 delivery (</a:t>
            </a:r>
            <a:r>
              <a:rPr lang="en-US" sz="11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from IT</a:t>
            </a: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48" name="Shape 39"/>
          <p:cNvSpPr/>
          <p:nvPr/>
        </p:nvSpPr>
        <p:spPr>
          <a:xfrm>
            <a:off x="9018270" y="3401568"/>
            <a:ext cx="262204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9E8E1"/>
            </a:solidFill>
            <a:prstDash val="solid"/>
          </a:ln>
          <a:effectLst>
            <a:outerShdw blurRad="76200" dist="25400" dir="5400000" algn="bl" rotWithShape="0">
              <a:srgbClr val="1F2622">
                <a:alpha val="10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9018270" y="3401568"/>
            <a:ext cx="2622042" cy="54864"/>
          </a:xfrm>
          <a:prstGeom prst="roundRect">
            <a:avLst/>
          </a:prstGeom>
          <a:solidFill>
            <a:srgbClr val="00915A"/>
          </a:solidFill>
          <a:ln/>
        </p:spPr>
      </p:sp>
      <p:sp>
        <p:nvSpPr>
          <p:cNvPr id="50" name="Shape 41"/>
          <p:cNvSpPr/>
          <p:nvPr/>
        </p:nvSpPr>
        <p:spPr>
          <a:xfrm>
            <a:off x="10018395" y="3602736"/>
            <a:ext cx="621792" cy="621792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51" name="Image 7" descr="/home/claude/ppt/icons/sitema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5446" y="3689787"/>
            <a:ext cx="447690" cy="44769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9109710" y="4315968"/>
            <a:ext cx="24391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5+1 </a:t>
            </a:r>
            <a:r>
              <a:rPr lang="en-US" sz="1100" b="1" dirty="0" smtClean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Business trainings</a:t>
            </a:r>
            <a:endParaRPr lang="en-US" sz="1600" dirty="0"/>
          </a:p>
        </p:txBody>
      </p:sp>
      <p:sp>
        <p:nvSpPr>
          <p:cNvPr id="53" name="Text 43"/>
          <p:cNvSpPr/>
          <p:nvPr/>
        </p:nvSpPr>
        <p:spPr>
          <a:xfrm>
            <a:off x="9155430" y="4663440"/>
            <a:ext cx="2347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AI For Business umbrella , 5 AI Made easy for business and 1 Live Room sessions are completed.</a:t>
            </a:r>
            <a:endParaRPr lang="en-US" sz="1200" dirty="0"/>
          </a:p>
        </p:txBody>
      </p:sp>
      <p:sp>
        <p:nvSpPr>
          <p:cNvPr id="54" name="Shape 44"/>
          <p:cNvSpPr/>
          <p:nvPr/>
        </p:nvSpPr>
        <p:spPr>
          <a:xfrm>
            <a:off x="548640" y="545896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E3F4EC"/>
          </a:solidFill>
          <a:ln/>
        </p:spPr>
      </p:sp>
      <p:sp>
        <p:nvSpPr>
          <p:cNvPr id="55" name="Text 45"/>
          <p:cNvSpPr/>
          <p:nvPr/>
        </p:nvSpPr>
        <p:spPr>
          <a:xfrm>
            <a:off x="777240" y="545896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3F"/>
                </a:solidFill>
              </a:rPr>
              <a:t>Regional benchmark:  </a:t>
            </a:r>
            <a:r>
              <a:rPr lang="en-US" sz="1200" dirty="0" smtClean="0">
                <a:solidFill>
                  <a:srgbClr val="1F2622"/>
                </a:solidFill>
              </a:rPr>
              <a:t>India </a:t>
            </a:r>
            <a:r>
              <a:rPr lang="en-US" sz="1200" dirty="0" err="1" smtClean="0">
                <a:solidFill>
                  <a:srgbClr val="1F2622"/>
                </a:solidFill>
              </a:rPr>
              <a:t>CoE</a:t>
            </a:r>
            <a:r>
              <a:rPr lang="en-US" sz="1200" dirty="0" smtClean="0">
                <a:solidFill>
                  <a:srgbClr val="1F2622"/>
                </a:solidFill>
              </a:rPr>
              <a:t> 2S IT leads the pace with 90%.</a:t>
            </a:r>
            <a:endParaRPr lang="en-US" sz="1200" dirty="0"/>
          </a:p>
        </p:txBody>
      </p:sp>
      <p:sp>
        <p:nvSpPr>
          <p:cNvPr id="56" name="Text 46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 IT — AI Program  |  Annexure</a:t>
            </a:r>
            <a:endParaRPr lang="en-US" sz="1200" dirty="0"/>
          </a:p>
        </p:txBody>
      </p:sp>
      <p:sp>
        <p:nvSpPr>
          <p:cNvPr id="57" name="Text 47"/>
          <p:cNvSpPr/>
          <p:nvPr/>
        </p:nvSpPr>
        <p:spPr>
          <a:xfrm>
            <a:off x="11277295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89840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9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 IT — AI PROGRAM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Ahead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Lot 1 delivery this quarter to the entity's 2030 agentic ambition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881360" cy="0"/>
          </a:xfrm>
          <a:prstGeom prst="line">
            <a:avLst/>
          </a:prstGeom>
          <a:noFill/>
          <a:ln w="25400">
            <a:solidFill>
              <a:srgbClr val="D9E8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6464" y="2029968"/>
            <a:ext cx="603504" cy="603504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8" name="Image 0" descr="/home/claude/ppt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955" y="2114459"/>
            <a:ext cx="434523" cy="4345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8096" y="2715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29900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FRC Reviews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02736" y="2029968"/>
            <a:ext cx="603504" cy="603504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12" name="Image 1" descr="/home/claude/ppt/icons/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227" y="2114459"/>
            <a:ext cx="434523" cy="43452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44368" y="2715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944368" y="29900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Demos Begin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779008" y="2029968"/>
            <a:ext cx="603504" cy="603504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16" name="Image 2" descr="/home/claude/ppt/icons/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3499" y="2114459"/>
            <a:ext cx="434523" cy="43452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715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120640" y="29900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1 Production-Ready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955280" y="2029968"/>
            <a:ext cx="603504" cy="603504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20" name="Image 3" descr="/home/claude/ppt/icons/usert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771" y="2114459"/>
            <a:ext cx="434523" cy="43452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96912" y="2715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2026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296912" y="29900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Practitioners Program Rollout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10131552" y="2029968"/>
            <a:ext cx="603504" cy="603504"/>
          </a:xfrm>
          <a:prstGeom prst="ellipse">
            <a:avLst/>
          </a:prstGeom>
          <a:solidFill>
            <a:srgbClr val="00693F"/>
          </a:solidFill>
          <a:ln/>
        </p:spPr>
      </p:sp>
      <p:pic>
        <p:nvPicPr>
          <p:cNvPr id="24" name="Image 4" descr="/home/claude/ppt/icons/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6043" y="2114459"/>
            <a:ext cx="434523" cy="43452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73184" y="2715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9473184" y="29900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Agents / Agentic SDLC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48640" y="3977640"/>
            <a:ext cx="358444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9E8E1"/>
            </a:solidFill>
            <a:prstDash val="solid"/>
          </a:ln>
          <a:effectLst>
            <a:outerShdw blurRad="76200" dist="25400" dir="5400000" algn="bl" rotWithShape="0">
              <a:srgbClr val="1F2622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48640" y="3977640"/>
            <a:ext cx="3584448" cy="54864"/>
          </a:xfrm>
          <a:prstGeom prst="roundRect">
            <a:avLst/>
          </a:prstGeom>
          <a:solidFill>
            <a:srgbClr val="00915A"/>
          </a:solidFill>
          <a:ln/>
        </p:spPr>
      </p:sp>
      <p:sp>
        <p:nvSpPr>
          <p:cNvPr id="29" name="Shape 22"/>
          <p:cNvSpPr/>
          <p:nvPr/>
        </p:nvSpPr>
        <p:spPr>
          <a:xfrm>
            <a:off x="731520" y="4178808"/>
            <a:ext cx="457200" cy="4572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30" name="Image 5" descr="/home/claude/ppt/icons/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242816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25880" y="4197096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(Q3 2026)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04672" y="4754880"/>
            <a:ext cx="3081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Architecture &amp; FRC reviews for all 17 use cases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demos Aug → Sep, targeting 80–90% completion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</a:t>
            </a:r>
            <a:r>
              <a:rPr lang="en-US" sz="1200" dirty="0" smtClean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</a:t>
            </a:r>
            <a:r>
              <a:rPr lang="en-US" sz="1200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+ Active adoption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334256" y="3977640"/>
            <a:ext cx="358444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9E8E1"/>
            </a:solidFill>
            <a:prstDash val="solid"/>
          </a:ln>
          <a:effectLst>
            <a:outerShdw blurRad="76200" dist="25400" dir="5400000" algn="bl" rotWithShape="0">
              <a:srgbClr val="1F2622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334256" y="3977640"/>
            <a:ext cx="3584448" cy="54864"/>
          </a:xfrm>
          <a:prstGeom prst="roundRect">
            <a:avLst/>
          </a:prstGeom>
          <a:solidFill>
            <a:srgbClr val="00915A"/>
          </a:solidFill>
          <a:ln/>
        </p:spPr>
      </p:sp>
      <p:sp>
        <p:nvSpPr>
          <p:cNvPr id="35" name="Shape 27"/>
          <p:cNvSpPr/>
          <p:nvPr/>
        </p:nvSpPr>
        <p:spPr>
          <a:xfrm>
            <a:off x="4517136" y="4178808"/>
            <a:ext cx="457200" cy="4572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36" name="Image 6" descr="/home/claude/ppt/icons/usert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4242816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111496" y="4197096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Initiative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4590288" y="4754880"/>
            <a:ext cx="3081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AI Practitioners Program </a:t>
            </a:r>
            <a:r>
              <a:rPr lang="en-US" sz="1200" dirty="0" smtClean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(Program Pulse with Standard Sizing mechanism and AI efficiency calculation roll out for pilot of 1 app)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cross-functional cohort per domain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 smtClean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and target 25-30 applications by end of 2027/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8119872" y="3977640"/>
            <a:ext cx="3584448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9E8E1"/>
            </a:solidFill>
            <a:prstDash val="solid"/>
          </a:ln>
          <a:effectLst>
            <a:outerShdw blurRad="76200" dist="25400" dir="5400000" algn="bl" rotWithShape="0">
              <a:srgbClr val="1F2622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8119872" y="3977640"/>
            <a:ext cx="3584448" cy="54864"/>
          </a:xfrm>
          <a:prstGeom prst="roundRect">
            <a:avLst/>
          </a:prstGeom>
          <a:solidFill>
            <a:srgbClr val="00915A"/>
          </a:solidFill>
          <a:ln/>
        </p:spPr>
      </p:sp>
      <p:sp>
        <p:nvSpPr>
          <p:cNvPr id="41" name="Shape 32"/>
          <p:cNvSpPr/>
          <p:nvPr/>
        </p:nvSpPr>
        <p:spPr>
          <a:xfrm>
            <a:off x="8302752" y="4178808"/>
            <a:ext cx="457200" cy="457200"/>
          </a:xfrm>
          <a:prstGeom prst="ellipse">
            <a:avLst/>
          </a:prstGeom>
          <a:solidFill>
            <a:srgbClr val="00915A"/>
          </a:solidFill>
          <a:ln/>
        </p:spPr>
      </p:sp>
      <p:pic>
        <p:nvPicPr>
          <p:cNvPr id="42" name="Image 7" descr="/home/claude/ppt/icons/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4242816"/>
            <a:ext cx="329184" cy="32918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897112" y="4197096"/>
            <a:ext cx="2670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Horizon</a:t>
            </a:r>
            <a:endParaRPr lang="en-US" sz="1400" dirty="0"/>
          </a:p>
        </p:txBody>
      </p:sp>
      <p:sp>
        <p:nvSpPr>
          <p:cNvPr id="44" name="Text 34"/>
          <p:cNvSpPr/>
          <p:nvPr/>
        </p:nvSpPr>
        <p:spPr>
          <a:xfrm>
            <a:off x="8375904" y="4754880"/>
            <a:ext cx="3081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agents deployed within 1,000 days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across the entity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 smtClean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r>
              <a:rPr lang="en-US" sz="1200" dirty="0" smtClean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200" dirty="0">
                <a:solidFill>
                  <a:srgbClr val="1F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already in progress toward this goal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 IT — AI Program  |  Annexure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11277295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50951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1156</Words>
  <Application>Microsoft Office PowerPoint</Application>
  <PresentationFormat>Widescreen</PresentationFormat>
  <Paragraphs>163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3</cp:revision>
  <dcterms:created xsi:type="dcterms:W3CDTF">2026-07-20T07:19:21Z</dcterms:created>
  <dcterms:modified xsi:type="dcterms:W3CDTF">2026-07-20T07:44:17Z</dcterms:modified>
</cp:coreProperties>
</file>