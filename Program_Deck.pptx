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 Cycle Time (hrs)</c:v>
                </c:pt>
              </c:strCache>
            </c:strRef>
          </c:tx>
          <c:spPr>
            <a:ln w="31750" cap="flat">
              <a:solidFill>
                <a:srgbClr val="0091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915A"/>
              </a:solidFill>
              <a:ln w="9525" cap="flat">
                <a:solidFill>
                  <a:srgbClr val="00915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623C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Spr 1</c:v>
                </c:pt>
                <c:pt idx="1">
                  <c:v>Spr 2</c:v>
                </c:pt>
                <c:pt idx="2">
                  <c:v>Spr 3</c:v>
                </c:pt>
                <c:pt idx="3">
                  <c:v>Spr 4</c:v>
                </c:pt>
                <c:pt idx="4">
                  <c:v>Spr 5</c:v>
                </c:pt>
                <c:pt idx="5">
                  <c:v>Spr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46</c:v>
                </c:pt>
                <c:pt idx="2">
                  <c:v>44</c:v>
                </c:pt>
                <c:pt idx="3">
                  <c:v>34</c:v>
                </c:pt>
                <c:pt idx="4">
                  <c:v>30</c:v>
                </c:pt>
                <c:pt idx="5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AC-4CA7-B9C9-8E6367ED436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687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CHARTER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— AI-Led Engineering Efficiency Program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deck/contrac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685310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81328"/>
            <a:ext cx="10177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establish a credible, repeatable baseline of engineering efficiency — and prove, with evidence rather than anecdote, the productivity gained by infusing AI into the software delivery lifecycle.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5500116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71576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1" name="Image 1" descr="/home/claude/deck/gau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81635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69748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Efficiency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" y="3227832"/>
            <a:ext cx="5042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stories per application create a consistent story-point baseline before any AI comparison begins.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31636" y="2514600"/>
            <a:ext cx="5500116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60236" y="271576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6" name="Image 2" descr="/home/claude/deck/robo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281635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00316" y="269748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Efficiency Gains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60236" y="3227832"/>
            <a:ext cx="5042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+ Jira data, correlated through an open-source tool, measures PR cycle time, commit-to-merge time, and LOC pre- vs. post-AI.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4480560"/>
            <a:ext cx="5500116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68172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1" name="Image 3" descr="/home/claude/deck/bulls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782312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66344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Defensibility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5193792"/>
            <a:ext cx="5042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weighted, documented scorecard removes bias from every tool and methodology choice made in this program.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231636" y="4480560"/>
            <a:ext cx="5500116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60236" y="4681728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6" name="Image 4" descr="/home/claude/deck/layer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820" y="4782312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00316" y="466344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Scalability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460236" y="5193792"/>
            <a:ext cx="5042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artifact built here — templates, scorecards, tagging rules — becomes the reusable kit for all 430+ applications.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VISIBILITY FOR THE </a:t>
            </a:r>
            <a:r>
              <a:rPr lang="en-US" sz="1400" b="1" kern="0" spc="100" dirty="0" smtClean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program proves AI is measurably improving delivery — not just felt, but seen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120640" cy="960120"/>
          </a:xfrm>
          <a:prstGeom prst="roundRect">
            <a:avLst>
              <a:gd name="adj" fmla="val 476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7" name="Image 0" descr="/home/claude/deck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122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56232"/>
            <a:ext cx="4069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Anchor-story baseline gives every metric a fixed, agreed reference point.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5120640" cy="960120"/>
          </a:xfrm>
          <a:prstGeom prst="roundRect">
            <a:avLst>
              <a:gd name="adj" fmla="val 476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1" name="Image 1" descr="/home/claude/deck/sync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2095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953512"/>
            <a:ext cx="4069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refresh sprint-over-sprint — no manual reporting lag.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977640"/>
            <a:ext cx="5120640" cy="960120"/>
          </a:xfrm>
          <a:prstGeom prst="roundRect">
            <a:avLst>
              <a:gd name="adj" fmla="val 476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5" name="Image 2" descr="/home/claude/deck/bullsey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30682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050792"/>
            <a:ext cx="4069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Same-period AI vs. non-AI tagging isolates the AI effect from other changes.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5074920"/>
            <a:ext cx="5120640" cy="960120"/>
          </a:xfrm>
          <a:prstGeom prst="roundRect">
            <a:avLst>
              <a:gd name="adj" fmla="val 476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9" name="Image 3" descr="/home/claude/deck/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540410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5148072"/>
            <a:ext cx="4069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Composite Efficiency Index rolls cycle time, PR time &amp; velocity into one </a:t>
            </a:r>
            <a:r>
              <a:rPr lang="en-US" sz="1400" dirty="0" smtClean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</a:t>
            </a: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852160" y="1783080"/>
            <a:ext cx="5879592" cy="3566160"/>
          </a:xfrm>
          <a:prstGeom prst="roundRect">
            <a:avLst>
              <a:gd name="adj" fmla="val 153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080760" y="1920240"/>
            <a:ext cx="5422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Cycle Time — Illustrative Trend</a:t>
            </a:r>
            <a:endParaRPr lang="en-US" sz="14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035040" y="2286000"/>
          <a:ext cx="5513832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 17"/>
          <p:cNvSpPr/>
          <p:nvPr/>
        </p:nvSpPr>
        <p:spPr>
          <a:xfrm>
            <a:off x="6080760" y="496519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only — populated from live data once the baseline is captured.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 smtClean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6-WEEK </a:t>
            </a:r>
            <a:r>
              <a:rPr lang="en-US" sz="1400" b="1" kern="0" spc="10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&amp; PHASED ROLLOUT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the pilot month — and the roadmap beyond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47188" cy="1874520"/>
          </a:xfrm>
          <a:prstGeom prst="roundRect">
            <a:avLst>
              <a:gd name="adj" fmla="val 292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9334" y="19659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7" name="Image 0" descr="/home/claude/deck/tool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8" y="20665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6032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880360"/>
            <a:ext cx="237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 smtClean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Story Points Definition, Tools like </a:t>
            </a:r>
            <a:r>
              <a:rPr lang="en-US" sz="1200" dirty="0" err="1" smtClean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DevLake</a:t>
            </a:r>
            <a:r>
              <a:rPr lang="en-US" sz="1200" dirty="0" smtClean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</a:t>
            </a:r>
            <a:r>
              <a:rPr lang="en-US" sz="1200" dirty="0" err="1" smtClean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Girimoire</a:t>
            </a:r>
            <a:r>
              <a:rPr lang="en-US" sz="1200" dirty="0" smtClean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setup</a:t>
            </a: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AI-tagging convention agreed.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04388" y="1783080"/>
            <a:ext cx="228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2988" y="1783080"/>
            <a:ext cx="2647188" cy="1874520"/>
          </a:xfrm>
          <a:prstGeom prst="roundRect">
            <a:avLst>
              <a:gd name="adj" fmla="val 292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05122" y="19659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3" name="Image 1" descr="/home/claude/deck/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706" y="206654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2988" y="256032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r>
              <a:rPr lang="en-US" sz="1400" b="1" dirty="0" smtClean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0148" y="2880360"/>
            <a:ext cx="237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stories signed off; DevLake vs. GrimoireLab bake-off scored.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80176" y="1783080"/>
            <a:ext cx="228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208776" y="1783080"/>
            <a:ext cx="2647188" cy="1874520"/>
          </a:xfrm>
          <a:prstGeom prst="roundRect">
            <a:avLst>
              <a:gd name="adj" fmla="val 292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80910" y="19659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9" name="Image 2" descr="/home/claude/deck/sync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494" y="206654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08776" y="256032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r>
              <a:rPr lang="en-US" sz="1400" b="1" dirty="0" smtClean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45936" y="2880360"/>
            <a:ext cx="237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 begins; first sprint runs under AI tagging.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855964" y="1783080"/>
            <a:ext cx="228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9084564" y="1783080"/>
            <a:ext cx="2647188" cy="1874520"/>
          </a:xfrm>
          <a:prstGeom prst="roundRect">
            <a:avLst>
              <a:gd name="adj" fmla="val 292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0156698" y="19659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5" name="Image 3" descr="/home/claude/deck/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7282" y="206654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84564" y="256032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r>
              <a:rPr lang="en-US" sz="1400" b="1" dirty="0" smtClean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21724" y="2880360"/>
            <a:ext cx="237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read-out, playbook packaged for wider rollout.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39776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BEYOND THE PILOT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457200" y="4389120"/>
            <a:ext cx="3575304" cy="1600200"/>
          </a:xfrm>
          <a:prstGeom prst="roundRect">
            <a:avLst>
              <a:gd name="adj" fmla="val 3429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4" descr="/home/claude/deck/compass_00623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6634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34440" y="455371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234440" y="48463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F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</a:t>
            </a:r>
            <a:r>
              <a:rPr lang="en-US" sz="1100" i="1" dirty="0" smtClean="0">
                <a:solidFill>
                  <a:srgbClr val="D9F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40080" y="525780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applications — Agile, prove the mechanism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032504" y="4389120"/>
            <a:ext cx="274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29"/>
          <p:cNvSpPr/>
          <p:nvPr/>
        </p:nvSpPr>
        <p:spPr>
          <a:xfrm>
            <a:off x="4306824" y="4389120"/>
            <a:ext cx="3575304" cy="1600200"/>
          </a:xfrm>
          <a:prstGeom prst="roundRect">
            <a:avLst>
              <a:gd name="adj" fmla="val 3429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489704" y="4572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5" descr="/home/claude/deck/rocket_00623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144" y="466344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084064" y="455371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5084064" y="48463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F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2–4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4489704" y="525780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— add Kanban &amp; Waterfall variants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7882128" y="4389120"/>
            <a:ext cx="274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3" name="Shape 35"/>
          <p:cNvSpPr/>
          <p:nvPr/>
        </p:nvSpPr>
        <p:spPr>
          <a:xfrm>
            <a:off x="8156448" y="4389120"/>
            <a:ext cx="3575304" cy="1600200"/>
          </a:xfrm>
          <a:prstGeom prst="roundRect">
            <a:avLst>
              <a:gd name="adj" fmla="val 3429"/>
            </a:avLst>
          </a:prstGeom>
          <a:solidFill>
            <a:srgbClr val="00623C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339328" y="4572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6" descr="/home/claude/deck/sitemap_00623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0768" y="4663440"/>
            <a:ext cx="274320" cy="27432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933688" y="455371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India </a:t>
            </a:r>
            <a:r>
              <a:rPr lang="en-US" sz="14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r>
              <a:rPr lang="en-US" sz="1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2S IT</a:t>
            </a:r>
            <a:endParaRPr lang="en-US" sz="1400" dirty="0"/>
          </a:p>
        </p:txBody>
      </p:sp>
      <p:sp>
        <p:nvSpPr>
          <p:cNvPr id="47" name="Text 38"/>
          <p:cNvSpPr/>
          <p:nvPr/>
        </p:nvSpPr>
        <p:spPr>
          <a:xfrm>
            <a:off x="8933688" y="48463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smtClean="0">
                <a:solidFill>
                  <a:srgbClr val="D9F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Year 2028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8339328" y="525780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rollout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2S IT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PARAMETERS &amp; TOOL TRUST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size work across delivery models — and why the tooling can be trusted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Readiness by Delivery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8" name="Image 0" descr="/home/claude/deck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52374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80560" y="22585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9F7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22585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280160" y="25694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stories + story points give a defensible, calibrated baseline today.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364992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3639312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5" name="Image 1" descr="/home/claude/deck/sync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739896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480560" y="34747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DF3E2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8056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280160" y="37856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Shifting to cycle-time &amp; T-shirt sizing since sprints/velocity don't apply.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4581144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" y="4855464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2" name="Image 2" descr="/home/claude/deck/warn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956048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4672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480560" y="46908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DF3E2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80560" y="4690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280160" y="50017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is largely gut-based today — rebuilding on actual logged hours, not estimates, before it can anchor a baseline.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0936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Trust — DevLake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309360" y="2148840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92240" y="2423160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0" name="Image 3" descr="/home/claude/deck/tool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2523744"/>
            <a:ext cx="301752" cy="30175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32320" y="222199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132320" y="25328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raw commit, MR/PR, and issue data directly from GitLab + Jira — no manual entry.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309360" y="3364992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92240" y="3639312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5" name="Image 4" descr="/home/claude/deck/char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3739896"/>
            <a:ext cx="301752" cy="30175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32320" y="34381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calculates efficiency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132320" y="37490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PR cycle time, commit-to-merge time &amp; LOC-per-story-point, then compares pre- vs. post-AI windows.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6309360" y="4581144"/>
            <a:ext cx="5394960" cy="1051560"/>
          </a:xfrm>
          <a:prstGeom prst="roundRect">
            <a:avLst>
              <a:gd name="adj" fmla="val 4348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492240" y="4855464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0" name="Image 5" descr="/home/claude/deck/trus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24" y="4956048"/>
            <a:ext cx="301752" cy="30175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32320" y="465429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 be trusted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7132320" y="496519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is cross-checked against the manually validated anchor story before it feeds </a:t>
            </a:r>
            <a:r>
              <a:rPr lang="en-US" sz="120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200" smtClean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HOURS SAVED TO BUSINESS VALUE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PR cycle-time reduction into cost savings and reclaimed delivery capacity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3392" y="1947672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7" name="Image 0" descr="/home/claude/deck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76" y="204825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1460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 Cut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77063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→ 27 hrs/PR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3063240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hrs saved per </a:t>
            </a:r>
            <a:r>
              <a:rPr lang="en-US" sz="1200" i="1" dirty="0" smtClean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PR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32504" y="1783080"/>
            <a:ext cx="274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06824" y="178308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43016" y="1947672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4" name="Image 1" descr="/home/claude/deck/arrow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048256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06824" y="251460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PR Volume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306824" y="277063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PRs / month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443984" y="3063240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both pilot apps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882128" y="1783080"/>
            <a:ext cx="274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8156448" y="178308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692640" y="1947672"/>
            <a:ext cx="502920" cy="5029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1" name="Image 2" descr="/home/claude/deck/chartb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2048256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56448" y="251460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Hours Saved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156448" y="277063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840 hrs / month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293608" y="3063240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Reclaimed engineering time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37947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THIS VALUE SHOWS UP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57200" y="4206240"/>
            <a:ext cx="5500116" cy="2103120"/>
          </a:xfrm>
          <a:prstGeom prst="roundRect">
            <a:avLst>
              <a:gd name="adj" fmla="val 2609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5800" y="44348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3" descr="/home/claude/deck/mon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544568"/>
            <a:ext cx="329184" cy="329184"/>
          </a:xfrm>
          <a:prstGeom prst="rect">
            <a:avLst/>
          </a:prstGeom>
        </p:spPr>
      </p:pic>
      <p:pic>
        <p:nvPicPr>
          <p:cNvPr id="29" name="Image 4" descr="/home/claude/deck/money_0062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54456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48056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 Angle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85800" y="5074920"/>
            <a:ext cx="50429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</a:t>
            </a:r>
            <a:r>
              <a:rPr lang="en-US" sz="14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× blended rate </a:t>
            </a:r>
            <a:r>
              <a:rPr lang="en-US" sz="14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</a:t>
            </a:r>
            <a:r>
              <a:rPr lang="en-US" sz="14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Euros </a:t>
            </a:r>
            <a:r>
              <a:rPr lang="en-US" sz="14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XYZ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 in reclaimed engineering </a:t>
            </a:r>
            <a:r>
              <a:rPr lang="en-US" sz="14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cost.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6231636" y="4206240"/>
            <a:ext cx="5500116" cy="2103120"/>
          </a:xfrm>
          <a:prstGeom prst="roundRect">
            <a:avLst>
              <a:gd name="adj" fmla="val 2609"/>
            </a:avLst>
          </a:prstGeom>
          <a:solidFill>
            <a:srgbClr val="00623C"/>
          </a:solidFill>
          <a:ln w="12700">
            <a:solidFill>
              <a:srgbClr val="00623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460236" y="44348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5" descr="/home/claude/deck/rock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9964" y="4544568"/>
            <a:ext cx="329184" cy="329184"/>
          </a:xfrm>
          <a:prstGeom prst="rect">
            <a:avLst/>
          </a:prstGeom>
        </p:spPr>
      </p:pic>
      <p:pic>
        <p:nvPicPr>
          <p:cNvPr id="35" name="Image 6" descr="/home/claude/deck/rocket_00623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9964" y="4544568"/>
            <a:ext cx="329184" cy="32918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118604" y="448056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</a:t>
            </a:r>
            <a:r>
              <a:rPr lang="en-US" sz="1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(Example)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6460236" y="5074920"/>
            <a:ext cx="50429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 hrs ÷ ~16 hrs per story point ≈ 52 extra story points of delivery capacity freed up per month — without adding headcount.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above are </a:t>
            </a:r>
            <a:r>
              <a:rPr lang="en-US" sz="1000" i="1" dirty="0" smtClean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illustrative.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 •  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640</Words>
  <Application>Microsoft Office PowerPoint</Application>
  <PresentationFormat>Widescreen</PresentationFormat>
  <Paragraphs>92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3</cp:revision>
  <dcterms:created xsi:type="dcterms:W3CDTF">2026-07-18T10:18:29Z</dcterms:created>
  <dcterms:modified xsi:type="dcterms:W3CDTF">2026-07-18T10:34:58Z</dcterms:modified>
</cp:coreProperties>
</file>