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2331720"/>
            <a:ext cx="12188952" cy="2194560"/>
          </a:xfrm>
          <a:prstGeom prst="rect">
            <a:avLst/>
          </a:prstGeom>
          <a:solidFill>
            <a:srgbClr val="00915A"/>
          </a:solidFill>
          <a:ln/>
        </p:spPr>
      </p:sp>
      <p:sp>
        <p:nvSpPr>
          <p:cNvPr id="4" name="Text 2"/>
          <p:cNvSpPr/>
          <p:nvPr/>
        </p:nvSpPr>
        <p:spPr>
          <a:xfrm>
            <a:off x="548640" y="2514600"/>
            <a:ext cx="11091672"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Technical Calibration Workshop</a:t>
            </a:r>
            <a:endParaRPr lang="en-US" sz="3400" dirty="0"/>
          </a:p>
        </p:txBody>
      </p:sp>
      <p:sp>
        <p:nvSpPr>
          <p:cNvPr id="5" name="Text 3"/>
          <p:cNvSpPr/>
          <p:nvPr/>
        </p:nvSpPr>
        <p:spPr>
          <a:xfrm>
            <a:off x="548640" y="3200400"/>
            <a:ext cx="11091672" cy="457200"/>
          </a:xfrm>
          <a:prstGeom prst="rect">
            <a:avLst/>
          </a:prstGeom>
          <a:noFill/>
          <a:ln/>
        </p:spPr>
        <p:txBody>
          <a:bodyPr wrap="square" lIns="0" tIns="0" rIns="0" bIns="0" rtlCol="0" anchor="ctr"/>
          <a:lstStyle/>
          <a:p>
            <a:pPr indent="0" marL="0">
              <a:buNone/>
            </a:pPr>
            <a:r>
              <a:rPr lang="en-US" sz="1500" dirty="0">
                <a:solidFill>
                  <a:srgbClr val="D7F0E4"/>
                </a:solidFill>
                <a:latin typeface="Arial" pitchFamily="34" charset="0"/>
                <a:ea typeface="Arial" pitchFamily="34" charset="-122"/>
                <a:cs typeface="Arial" pitchFamily="34" charset="-120"/>
              </a:rPr>
              <a:t>Backend Skill Track  |  Spring MVC | Spring Security | JPA | Hibernate | Caching | H2</a:t>
            </a:r>
            <a:endParaRPr lang="en-US" sz="1500" dirty="0"/>
          </a:p>
        </p:txBody>
      </p:sp>
      <p:sp>
        <p:nvSpPr>
          <p:cNvPr id="6" name="Text 4"/>
          <p:cNvSpPr/>
          <p:nvPr/>
        </p:nvSpPr>
        <p:spPr>
          <a:xfrm>
            <a:off x="548640" y="4754880"/>
            <a:ext cx="11091672" cy="365760"/>
          </a:xfrm>
          <a:prstGeom prst="rect">
            <a:avLst/>
          </a:prstGeom>
          <a:noFill/>
          <a:ln/>
        </p:spPr>
        <p:txBody>
          <a:bodyPr wrap="square" lIns="0" tIns="0" rIns="0" bIns="0" rtlCol="0" anchor="ctr"/>
          <a:lstStyle/>
          <a:p>
            <a:pPr indent="0" marL="0">
              <a:buNone/>
            </a:pPr>
            <a:r>
              <a:rPr lang="en-US" sz="1400" b="1" dirty="0">
                <a:solidFill>
                  <a:srgbClr val="00623D"/>
                </a:solidFill>
                <a:latin typeface="Arial" pitchFamily="34" charset="0"/>
                <a:ea typeface="Arial" pitchFamily="34" charset="-122"/>
                <a:cs typeface="Arial" pitchFamily="34" charset="-120"/>
              </a:rPr>
              <a:t>3 Interview Scenarios for 10+ Years Technical Architect / Senior Developer Panel</a:t>
            </a:r>
            <a:endParaRPr lang="en-US" sz="1400" dirty="0"/>
          </a:p>
        </p:txBody>
      </p:sp>
      <p:sp>
        <p:nvSpPr>
          <p:cNvPr id="7" name="Text 5"/>
          <p:cNvSpPr/>
          <p:nvPr/>
        </p:nvSpPr>
        <p:spPr>
          <a:xfrm>
            <a:off x="548640" y="5212080"/>
            <a:ext cx="11091672" cy="1188720"/>
          </a:xfrm>
          <a:prstGeom prst="rect">
            <a:avLst/>
          </a:prstGeom>
          <a:noFill/>
          <a:ln/>
        </p:spPr>
        <p:txBody>
          <a:bodyPr wrap="square" lIns="0" tIns="0" rIns="0" bIns="0" rtlCol="0" anchor="ctr"/>
          <a:lstStyle/>
          <a:p>
            <a:pPr indent="0" marL="0">
              <a:lnSpc>
                <a:spcPct val="115000"/>
              </a:lnSpc>
              <a:buNone/>
            </a:pPr>
            <a:r>
              <a:rPr lang="en-US" sz="1200" dirty="0">
                <a:solidFill>
                  <a:srgbClr val="262626"/>
                </a:solidFill>
                <a:latin typeface="Arial" pitchFamily="34" charset="0"/>
                <a:ea typeface="Arial" pitchFamily="34" charset="-122"/>
                <a:cs typeface="Arial" pitchFamily="34" charset="-120"/>
              </a:rPr>
              <a:t>Each scenario is a realistic enterprise-application problem statement designed to give the interviewer a natural way to probe the mandatory skill-matrix topics below. Interviewers are not expected to ask the scenario verbatim — use it as a springboard, and ensure every listed sub-topic gets checked at the indicated depth during the 1-hour round.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915A"/>
          </a:solidFill>
          <a:ln/>
        </p:spPr>
      </p:sp>
      <p:sp>
        <p:nvSpPr>
          <p:cNvPr id="3" name="Text 1"/>
          <p:cNvSpPr/>
          <p:nvPr/>
        </p:nvSpPr>
        <p:spPr>
          <a:xfrm>
            <a:off x="365760" y="118872"/>
            <a:ext cx="11430000" cy="274320"/>
          </a:xfrm>
          <a:prstGeom prst="rect">
            <a:avLst/>
          </a:prstGeom>
          <a:noFill/>
          <a:ln/>
        </p:spPr>
        <p:txBody>
          <a:bodyPr wrap="square" lIns="0" tIns="0" rIns="0" bIns="0" rtlCol="0" anchor="ctr"/>
          <a:lstStyle/>
          <a:p>
            <a:pPr indent="0" marL="0">
              <a:buNone/>
            </a:pPr>
            <a:r>
              <a:rPr lang="en-US" sz="1200" b="1" spc="100" kern="0" dirty="0">
                <a:solidFill>
                  <a:srgbClr val="D7F0E4"/>
                </a:solidFill>
                <a:latin typeface="Arial" pitchFamily="34" charset="0"/>
                <a:ea typeface="Arial" pitchFamily="34" charset="-122"/>
                <a:cs typeface="Arial" pitchFamily="34" charset="-120"/>
              </a:rPr>
              <a:t>SCENARIO 1 OF 3</a:t>
            </a:r>
            <a:endParaRPr lang="en-US" sz="1200" dirty="0"/>
          </a:p>
        </p:txBody>
      </p:sp>
      <p:sp>
        <p:nvSpPr>
          <p:cNvPr id="4" name="Text 2"/>
          <p:cNvSpPr/>
          <p:nvPr/>
        </p:nvSpPr>
        <p:spPr>
          <a:xfrm>
            <a:off x="365760" y="365760"/>
            <a:ext cx="11430000" cy="50292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Secure User Registration &amp; Approval API</a:t>
            </a:r>
            <a:endParaRPr lang="en-US" sz="2500" dirty="0"/>
          </a:p>
        </p:txBody>
      </p:sp>
      <p:sp>
        <p:nvSpPr>
          <p:cNvPr id="5" name="Text 3"/>
          <p:cNvSpPr/>
          <p:nvPr/>
        </p:nvSpPr>
        <p:spPr>
          <a:xfrm>
            <a:off x="365760" y="841248"/>
            <a:ext cx="11430000" cy="201168"/>
          </a:xfrm>
          <a:prstGeom prst="rect">
            <a:avLst/>
          </a:prstGeom>
          <a:noFill/>
          <a:ln/>
        </p:spPr>
        <p:txBody>
          <a:bodyPr wrap="square" lIns="0" tIns="0" rIns="0" bIns="0" rtlCol="0" anchor="ctr"/>
          <a:lstStyle/>
          <a:p>
            <a:pPr indent="0" marL="0">
              <a:buNone/>
            </a:pPr>
            <a:r>
              <a:rPr lang="en-US" sz="1100" i="1" dirty="0">
                <a:solidFill>
                  <a:srgbClr val="D7F0E4"/>
                </a:solidFill>
                <a:latin typeface="Arial" pitchFamily="34" charset="0"/>
                <a:ea typeface="Arial" pitchFamily="34" charset="-122"/>
                <a:cs typeface="Arial" pitchFamily="34" charset="-120"/>
              </a:rPr>
              <a:t>Primary skill focus: Spring MVC + Spring Security  (with JPA/Hibernate touchpoint)</a:t>
            </a:r>
            <a:endParaRPr lang="en-US" sz="1100" dirty="0"/>
          </a:p>
        </p:txBody>
      </p:sp>
      <p:sp>
        <p:nvSpPr>
          <p:cNvPr id="6" name="Text 4"/>
          <p:cNvSpPr/>
          <p:nvPr/>
        </p:nvSpPr>
        <p:spPr>
          <a:xfrm>
            <a:off x="365760" y="1207008"/>
            <a:ext cx="114300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PROBLEM STATEMENT</a:t>
            </a:r>
            <a:endParaRPr lang="en-US" sz="1200" dirty="0"/>
          </a:p>
        </p:txBody>
      </p:sp>
      <p:sp>
        <p:nvSpPr>
          <p:cNvPr id="7" name="Text 5"/>
          <p:cNvSpPr/>
          <p:nvPr/>
        </p:nvSpPr>
        <p:spPr>
          <a:xfrm>
            <a:off x="365760" y="1463040"/>
            <a:ext cx="11430000" cy="1051560"/>
          </a:xfrm>
          <a:prstGeom prst="rect">
            <a:avLst/>
          </a:prstGeom>
          <a:noFill/>
          <a:ln/>
        </p:spPr>
        <p:txBody>
          <a:bodyPr wrap="square" lIns="0" tIns="0" rIns="0" bIns="0" rtlCol="0" anchor="t"/>
          <a:lstStyle/>
          <a:p>
            <a:pPr indent="0" marL="0">
              <a:lnSpc>
                <a:spcPct val="112000"/>
              </a:lnSpc>
              <a:buNone/>
            </a:pPr>
            <a:r>
              <a:rPr lang="en-US" sz="1250" dirty="0">
                <a:solidFill>
                  <a:srgbClr val="262626"/>
                </a:solidFill>
                <a:latin typeface="Arial" pitchFamily="34" charset="0"/>
                <a:ea typeface="Arial" pitchFamily="34" charset="-122"/>
                <a:cs typeface="Arial" pitchFamily="34" charset="-120"/>
              </a:rPr>
              <a:t>Design and build a REST API for an enterprise portal's registration module. A new user submits profile details through a web form; the system must validate the input, persist the profile record, and expose review/approval endpoints that only administrators with the correct role can access. All endpoints must be secured with token-based authentication, return a standardized error contract, and automatically capture audit information — who created or modified the record, and when.</a:t>
            </a:r>
            <a:endParaRPr lang="en-US" sz="1250" dirty="0"/>
          </a:p>
        </p:txBody>
      </p:sp>
      <p:sp>
        <p:nvSpPr>
          <p:cNvPr id="8" name="Text 6"/>
          <p:cNvSpPr/>
          <p:nvPr/>
        </p:nvSpPr>
        <p:spPr>
          <a:xfrm>
            <a:off x="365760" y="2679192"/>
            <a:ext cx="54864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TOPICS &amp; SUB-TOPICS COVERED</a:t>
            </a:r>
            <a:endParaRPr lang="en-US" sz="1200" dirty="0"/>
          </a:p>
        </p:txBody>
      </p:sp>
      <p:sp>
        <p:nvSpPr>
          <p:cNvPr id="9" name="Text 7"/>
          <p:cNvSpPr/>
          <p:nvPr/>
        </p:nvSpPr>
        <p:spPr>
          <a:xfrm>
            <a:off x="8092440" y="2679192"/>
            <a:ext cx="1234440" cy="237744"/>
          </a:xfrm>
          <a:prstGeom prst="rect">
            <a:avLst/>
          </a:prstGeom>
          <a:solidFill>
            <a:srgbClr val="EFEFEF"/>
          </a:solidFill>
          <a:ln/>
        </p:spPr>
        <p:txBody>
          <a:bodyPr wrap="square" lIns="0" tIns="0" rIns="0" bIns="0" rtlCol="0" anchor="ctr"/>
          <a:lstStyle/>
          <a:p>
            <a:pPr algn="ctr" indent="0" marL="0">
              <a:buNone/>
            </a:pPr>
            <a:r>
              <a:rPr lang="en-US" sz="950" b="1" dirty="0">
                <a:solidFill>
                  <a:srgbClr val="616161"/>
                </a:solidFill>
                <a:latin typeface="Arial" pitchFamily="34" charset="0"/>
                <a:ea typeface="Arial" pitchFamily="34" charset="-122"/>
                <a:cs typeface="Arial" pitchFamily="34" charset="-120"/>
              </a:rPr>
              <a:t>Beginner</a:t>
            </a:r>
            <a:endParaRPr lang="en-US" sz="950" dirty="0"/>
          </a:p>
        </p:txBody>
      </p:sp>
      <p:sp>
        <p:nvSpPr>
          <p:cNvPr id="10" name="Text 8"/>
          <p:cNvSpPr/>
          <p:nvPr/>
        </p:nvSpPr>
        <p:spPr>
          <a:xfrm>
            <a:off x="9390888" y="2679192"/>
            <a:ext cx="1234440" cy="237744"/>
          </a:xfrm>
          <a:prstGeom prst="rect">
            <a:avLst/>
          </a:prstGeom>
          <a:solidFill>
            <a:srgbClr val="BFE3D2"/>
          </a:solidFill>
          <a:ln/>
        </p:spPr>
        <p:txBody>
          <a:bodyPr wrap="square" lIns="0" tIns="0" rIns="0" bIns="0" rtlCol="0" anchor="ctr"/>
          <a:lstStyle/>
          <a:p>
            <a:pPr algn="ctr" indent="0" marL="0">
              <a:buNone/>
            </a:pPr>
            <a:r>
              <a:rPr lang="en-US" sz="950" b="1" dirty="0">
                <a:solidFill>
                  <a:srgbClr val="00623D"/>
                </a:solidFill>
                <a:latin typeface="Arial" pitchFamily="34" charset="0"/>
                <a:ea typeface="Arial" pitchFamily="34" charset="-122"/>
                <a:cs typeface="Arial" pitchFamily="34" charset="-120"/>
              </a:rPr>
              <a:t>Intermediate</a:t>
            </a:r>
            <a:endParaRPr lang="en-US" sz="950" dirty="0"/>
          </a:p>
        </p:txBody>
      </p:sp>
      <p:sp>
        <p:nvSpPr>
          <p:cNvPr id="11" name="Text 9"/>
          <p:cNvSpPr/>
          <p:nvPr/>
        </p:nvSpPr>
        <p:spPr>
          <a:xfrm>
            <a:off x="10689336" y="2679192"/>
            <a:ext cx="1234440" cy="237744"/>
          </a:xfrm>
          <a:prstGeom prst="rect">
            <a:avLst/>
          </a:prstGeom>
          <a:solidFill>
            <a:srgbClr val="00915A"/>
          </a:solid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Advanced</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2990088"/>
          <a:ext cx="11430000" cy="914400"/>
        </p:xfrm>
        <a:graphic>
          <a:graphicData uri="http://schemas.openxmlformats.org/drawingml/2006/table">
            <a:tbl>
              <a:tblPr/>
              <a:tblGrid>
                <a:gridCol w="2468880"/>
                <a:gridCol w="7863840"/>
                <a:gridCol w="1097280"/>
              </a:tblGrid>
              <a:tr h="333756">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Topic Area</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Sub-Topic Checked</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Level</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REST controller design, request mapping &amp; response structuring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616161"/>
                          </a:solidFill>
                          <a:latin typeface="Arial" pitchFamily="34" charset="0"/>
                          <a:ea typeface="Arial" pitchFamily="34" charset="-122"/>
                          <a:cs typeface="Arial" pitchFamily="34" charset="-120"/>
                        </a:rPr>
                        <a:t>Beginner</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EFEFEF"/>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Global exception handling (@ControllerAdvice, @ExceptionHandler) &amp; standardized error contract</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Request validation (@Valid, custom validators) and DTO ↔ Entity mapping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Async request processing (Callable / DeferredResult) for long-running approval checks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Security</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Token-based authentication (JWT / OAuth2 resource server)</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Security</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CORS &amp; CSRF configuration for a stateless REST API</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Security</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Method-level authorization (@PreAuthorize, role/permission model)</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Security</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Custom UserDetailsService &amp; security filter chain design</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JPA / 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Entity auditing (@CreatedDate/@LastModifiedBy, @EntityListeners)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bl>
          </a:graphicData>
        </a:graphic>
      </p:graphicFrame>
      <p:sp>
        <p:nvSpPr>
          <p:cNvPr id="13" name="Text 10"/>
          <p:cNvSpPr/>
          <p:nvPr/>
        </p:nvSpPr>
        <p:spPr>
          <a:xfrm>
            <a:off x="365760" y="6510528"/>
            <a:ext cx="11430000" cy="274320"/>
          </a:xfrm>
          <a:prstGeom prst="rect">
            <a:avLst/>
          </a:prstGeom>
          <a:noFill/>
          <a:ln/>
        </p:spPr>
        <p:txBody>
          <a:bodyPr wrap="square" lIns="0" tIns="0" rIns="0" bIns="0" rtlCol="0" anchor="ctr"/>
          <a:lstStyle/>
          <a:p>
            <a:pPr indent="0" marL="0">
              <a:buNone/>
            </a:pPr>
            <a:r>
              <a:rPr lang="en-US" sz="900" i="1" dirty="0">
                <a:solidFill>
                  <a:srgbClr val="8A8A8A"/>
                </a:solidFill>
                <a:latin typeface="Arial" pitchFamily="34" charset="0"/>
                <a:ea typeface="Arial" pitchFamily="34" charset="-122"/>
                <a:cs typeface="Arial" pitchFamily="34" charset="-120"/>
              </a:rPr>
              <a:t>Note: Do not ask this scenario verbatim — use it to steer questions so every sub-topic above is verified at the stated proficiency level.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915A"/>
          </a:solidFill>
          <a:ln/>
        </p:spPr>
      </p:sp>
      <p:sp>
        <p:nvSpPr>
          <p:cNvPr id="3" name="Text 1"/>
          <p:cNvSpPr/>
          <p:nvPr/>
        </p:nvSpPr>
        <p:spPr>
          <a:xfrm>
            <a:off x="365760" y="118872"/>
            <a:ext cx="11430000" cy="274320"/>
          </a:xfrm>
          <a:prstGeom prst="rect">
            <a:avLst/>
          </a:prstGeom>
          <a:noFill/>
          <a:ln/>
        </p:spPr>
        <p:txBody>
          <a:bodyPr wrap="square" lIns="0" tIns="0" rIns="0" bIns="0" rtlCol="0" anchor="ctr"/>
          <a:lstStyle/>
          <a:p>
            <a:pPr indent="0" marL="0">
              <a:buNone/>
            </a:pPr>
            <a:r>
              <a:rPr lang="en-US" sz="1200" b="1" spc="100" kern="0" dirty="0">
                <a:solidFill>
                  <a:srgbClr val="D7F0E4"/>
                </a:solidFill>
                <a:latin typeface="Arial" pitchFamily="34" charset="0"/>
                <a:ea typeface="Arial" pitchFamily="34" charset="-122"/>
                <a:cs typeface="Arial" pitchFamily="34" charset="-120"/>
              </a:rPr>
              <a:t>SCENARIO 2 OF 3</a:t>
            </a:r>
            <a:endParaRPr lang="en-US" sz="1200" dirty="0"/>
          </a:p>
        </p:txBody>
      </p:sp>
      <p:sp>
        <p:nvSpPr>
          <p:cNvPr id="4" name="Text 2"/>
          <p:cNvSpPr/>
          <p:nvPr/>
        </p:nvSpPr>
        <p:spPr>
          <a:xfrm>
            <a:off x="365760" y="365760"/>
            <a:ext cx="11430000" cy="50292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Order Management Data Layer Under Concurrent Access</a:t>
            </a:r>
            <a:endParaRPr lang="en-US" sz="2500" dirty="0"/>
          </a:p>
        </p:txBody>
      </p:sp>
      <p:sp>
        <p:nvSpPr>
          <p:cNvPr id="5" name="Text 3"/>
          <p:cNvSpPr/>
          <p:nvPr/>
        </p:nvSpPr>
        <p:spPr>
          <a:xfrm>
            <a:off x="365760" y="841248"/>
            <a:ext cx="11430000" cy="201168"/>
          </a:xfrm>
          <a:prstGeom prst="rect">
            <a:avLst/>
          </a:prstGeom>
          <a:noFill/>
          <a:ln/>
        </p:spPr>
        <p:txBody>
          <a:bodyPr wrap="square" lIns="0" tIns="0" rIns="0" bIns="0" rtlCol="0" anchor="ctr"/>
          <a:lstStyle/>
          <a:p>
            <a:pPr indent="0" marL="0">
              <a:buNone/>
            </a:pPr>
            <a:r>
              <a:rPr lang="en-US" sz="1100" i="1" dirty="0">
                <a:solidFill>
                  <a:srgbClr val="D7F0E4"/>
                </a:solidFill>
                <a:latin typeface="Arial" pitchFamily="34" charset="0"/>
                <a:ea typeface="Arial" pitchFamily="34" charset="-122"/>
                <a:cs typeface="Arial" pitchFamily="34" charset="-120"/>
              </a:rPr>
              <a:t>Primary skill focus: JPA + Hibernate + Caching</a:t>
            </a:r>
            <a:endParaRPr lang="en-US" sz="1100" dirty="0"/>
          </a:p>
        </p:txBody>
      </p:sp>
      <p:sp>
        <p:nvSpPr>
          <p:cNvPr id="6" name="Text 4"/>
          <p:cNvSpPr/>
          <p:nvPr/>
        </p:nvSpPr>
        <p:spPr>
          <a:xfrm>
            <a:off x="365760" y="1207008"/>
            <a:ext cx="114300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PROBLEM STATEMENT</a:t>
            </a:r>
            <a:endParaRPr lang="en-US" sz="1200" dirty="0"/>
          </a:p>
        </p:txBody>
      </p:sp>
      <p:sp>
        <p:nvSpPr>
          <p:cNvPr id="7" name="Text 5"/>
          <p:cNvSpPr/>
          <p:nvPr/>
        </p:nvSpPr>
        <p:spPr>
          <a:xfrm>
            <a:off x="365760" y="1463040"/>
            <a:ext cx="11430000" cy="1051560"/>
          </a:xfrm>
          <a:prstGeom prst="rect">
            <a:avLst/>
          </a:prstGeom>
          <a:noFill/>
          <a:ln/>
        </p:spPr>
        <p:txBody>
          <a:bodyPr wrap="square" lIns="0" tIns="0" rIns="0" bIns="0" rtlCol="0" anchor="t"/>
          <a:lstStyle/>
          <a:p>
            <a:pPr indent="0" marL="0">
              <a:lnSpc>
                <a:spcPct val="112000"/>
              </a:lnSpc>
              <a:buNone/>
            </a:pPr>
            <a:r>
              <a:rPr lang="en-US" sz="1250" dirty="0">
                <a:solidFill>
                  <a:srgbClr val="262626"/>
                </a:solidFill>
                <a:latin typeface="Arial" pitchFamily="34" charset="0"/>
                <a:ea typeface="Arial" pitchFamily="34" charset="-122"/>
                <a:cs typeface="Arial" pitchFamily="34" charset="-120"/>
              </a:rPr>
              <a:t>An order management system stores customer orders along with line items and linked shipment documents. Multiple warehouse staff can view and update the same order record at the same time. Design the persistence layer so simultaneous edits never silently overwrite each other, fetching an order together with its line items does not trigger excessive database calls, and frequently-read reference data such as product pricing tiers is served from cache instead of hitting the database on every request.</a:t>
            </a:r>
            <a:endParaRPr lang="en-US" sz="1250" dirty="0"/>
          </a:p>
        </p:txBody>
      </p:sp>
      <p:sp>
        <p:nvSpPr>
          <p:cNvPr id="8" name="Text 6"/>
          <p:cNvSpPr/>
          <p:nvPr/>
        </p:nvSpPr>
        <p:spPr>
          <a:xfrm>
            <a:off x="365760" y="2679192"/>
            <a:ext cx="54864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TOPICS &amp; SUB-TOPICS COVERED</a:t>
            </a:r>
            <a:endParaRPr lang="en-US" sz="1200" dirty="0"/>
          </a:p>
        </p:txBody>
      </p:sp>
      <p:sp>
        <p:nvSpPr>
          <p:cNvPr id="9" name="Text 7"/>
          <p:cNvSpPr/>
          <p:nvPr/>
        </p:nvSpPr>
        <p:spPr>
          <a:xfrm>
            <a:off x="8092440" y="2679192"/>
            <a:ext cx="1234440" cy="237744"/>
          </a:xfrm>
          <a:prstGeom prst="rect">
            <a:avLst/>
          </a:prstGeom>
          <a:solidFill>
            <a:srgbClr val="EFEFEF"/>
          </a:solidFill>
          <a:ln/>
        </p:spPr>
        <p:txBody>
          <a:bodyPr wrap="square" lIns="0" tIns="0" rIns="0" bIns="0" rtlCol="0" anchor="ctr"/>
          <a:lstStyle/>
          <a:p>
            <a:pPr algn="ctr" indent="0" marL="0">
              <a:buNone/>
            </a:pPr>
            <a:r>
              <a:rPr lang="en-US" sz="950" b="1" dirty="0">
                <a:solidFill>
                  <a:srgbClr val="616161"/>
                </a:solidFill>
                <a:latin typeface="Arial" pitchFamily="34" charset="0"/>
                <a:ea typeface="Arial" pitchFamily="34" charset="-122"/>
                <a:cs typeface="Arial" pitchFamily="34" charset="-120"/>
              </a:rPr>
              <a:t>Beginner</a:t>
            </a:r>
            <a:endParaRPr lang="en-US" sz="950" dirty="0"/>
          </a:p>
        </p:txBody>
      </p:sp>
      <p:sp>
        <p:nvSpPr>
          <p:cNvPr id="10" name="Text 8"/>
          <p:cNvSpPr/>
          <p:nvPr/>
        </p:nvSpPr>
        <p:spPr>
          <a:xfrm>
            <a:off x="9390888" y="2679192"/>
            <a:ext cx="1234440" cy="237744"/>
          </a:xfrm>
          <a:prstGeom prst="rect">
            <a:avLst/>
          </a:prstGeom>
          <a:solidFill>
            <a:srgbClr val="BFE3D2"/>
          </a:solidFill>
          <a:ln/>
        </p:spPr>
        <p:txBody>
          <a:bodyPr wrap="square" lIns="0" tIns="0" rIns="0" bIns="0" rtlCol="0" anchor="ctr"/>
          <a:lstStyle/>
          <a:p>
            <a:pPr algn="ctr" indent="0" marL="0">
              <a:buNone/>
            </a:pPr>
            <a:r>
              <a:rPr lang="en-US" sz="950" b="1" dirty="0">
                <a:solidFill>
                  <a:srgbClr val="00623D"/>
                </a:solidFill>
                <a:latin typeface="Arial" pitchFamily="34" charset="0"/>
                <a:ea typeface="Arial" pitchFamily="34" charset="-122"/>
                <a:cs typeface="Arial" pitchFamily="34" charset="-120"/>
              </a:rPr>
              <a:t>Intermediate</a:t>
            </a:r>
            <a:endParaRPr lang="en-US" sz="950" dirty="0"/>
          </a:p>
        </p:txBody>
      </p:sp>
      <p:sp>
        <p:nvSpPr>
          <p:cNvPr id="11" name="Text 9"/>
          <p:cNvSpPr/>
          <p:nvPr/>
        </p:nvSpPr>
        <p:spPr>
          <a:xfrm>
            <a:off x="10689336" y="2679192"/>
            <a:ext cx="1234440" cy="237744"/>
          </a:xfrm>
          <a:prstGeom prst="rect">
            <a:avLst/>
          </a:prstGeom>
          <a:solidFill>
            <a:srgbClr val="00915A"/>
          </a:solid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Advanced</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2990088"/>
          <a:ext cx="11430000" cy="914400"/>
        </p:xfrm>
        <a:graphic>
          <a:graphicData uri="http://schemas.openxmlformats.org/drawingml/2006/table">
            <a:tbl>
              <a:tblPr/>
              <a:tblGrid>
                <a:gridCol w="2468880"/>
                <a:gridCol w="7863840"/>
                <a:gridCol w="1097280"/>
              </a:tblGrid>
              <a:tr h="333756">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Topic Area</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Sub-Topic Checked</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Level</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JPA</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Entity relationship mapping (@OneToMany/@ManyToOne, cascade, orphanRemoval)</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616161"/>
                          </a:solidFill>
                          <a:latin typeface="Arial" pitchFamily="34" charset="0"/>
                          <a:ea typeface="Arial" pitchFamily="34" charset="-122"/>
                          <a:cs typeface="Arial" pitchFamily="34" charset="-120"/>
                        </a:rPr>
                        <a:t>Beginner</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EFEFEF"/>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JPA</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Fetch strategy &amp; N+1 problem resolution (JOIN FETCH, @EntityGraph)</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JPA</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Dynamic queries via JPQL / Criteria API</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First-level vs. second-level cache behavior</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Optimistic locking (@Version) vs. pessimistic locking for concurrent updates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Dirty checking, flush modes &amp; transaction boundary management</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Persistence context / EntityManager lifecycle across service calls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Caching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Spring Cache abstraction (@Cacheable / @CacheEvict / @CachePut)</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Caching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Cache provider integration &amp; eviction/TTL strategy design (Ehcache / Redis)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bl>
          </a:graphicData>
        </a:graphic>
      </p:graphicFrame>
      <p:sp>
        <p:nvSpPr>
          <p:cNvPr id="13" name="Text 10"/>
          <p:cNvSpPr/>
          <p:nvPr/>
        </p:nvSpPr>
        <p:spPr>
          <a:xfrm>
            <a:off x="365760" y="6510528"/>
            <a:ext cx="11430000" cy="274320"/>
          </a:xfrm>
          <a:prstGeom prst="rect">
            <a:avLst/>
          </a:prstGeom>
          <a:noFill/>
          <a:ln/>
        </p:spPr>
        <p:txBody>
          <a:bodyPr wrap="square" lIns="0" tIns="0" rIns="0" bIns="0" rtlCol="0" anchor="ctr"/>
          <a:lstStyle/>
          <a:p>
            <a:pPr indent="0" marL="0">
              <a:buNone/>
            </a:pPr>
            <a:r>
              <a:rPr lang="en-US" sz="900" i="1" dirty="0">
                <a:solidFill>
                  <a:srgbClr val="8A8A8A"/>
                </a:solidFill>
                <a:latin typeface="Arial" pitchFamily="34" charset="0"/>
                <a:ea typeface="Arial" pitchFamily="34" charset="-122"/>
                <a:cs typeface="Arial" pitchFamily="34" charset="-120"/>
              </a:rPr>
              <a:t>Note: Do not ask this scenario verbatim — use it to steer questions so every sub-topic above is verified at the stated proficiency level.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0915A"/>
          </a:solidFill>
          <a:ln/>
        </p:spPr>
      </p:sp>
      <p:sp>
        <p:nvSpPr>
          <p:cNvPr id="3" name="Text 1"/>
          <p:cNvSpPr/>
          <p:nvPr/>
        </p:nvSpPr>
        <p:spPr>
          <a:xfrm>
            <a:off x="365760" y="118872"/>
            <a:ext cx="11430000" cy="274320"/>
          </a:xfrm>
          <a:prstGeom prst="rect">
            <a:avLst/>
          </a:prstGeom>
          <a:noFill/>
          <a:ln/>
        </p:spPr>
        <p:txBody>
          <a:bodyPr wrap="square" lIns="0" tIns="0" rIns="0" bIns="0" rtlCol="0" anchor="ctr"/>
          <a:lstStyle/>
          <a:p>
            <a:pPr indent="0" marL="0">
              <a:buNone/>
            </a:pPr>
            <a:r>
              <a:rPr lang="en-US" sz="1200" b="1" spc="100" kern="0" dirty="0">
                <a:solidFill>
                  <a:srgbClr val="D7F0E4"/>
                </a:solidFill>
                <a:latin typeface="Arial" pitchFamily="34" charset="0"/>
                <a:ea typeface="Arial" pitchFamily="34" charset="-122"/>
                <a:cs typeface="Arial" pitchFamily="34" charset="-120"/>
              </a:rPr>
              <a:t>SCENARIO 3 OF 3</a:t>
            </a:r>
            <a:endParaRPr lang="en-US" sz="1200" dirty="0"/>
          </a:p>
        </p:txBody>
      </p:sp>
      <p:sp>
        <p:nvSpPr>
          <p:cNvPr id="4" name="Text 2"/>
          <p:cNvSpPr/>
          <p:nvPr/>
        </p:nvSpPr>
        <p:spPr>
          <a:xfrm>
            <a:off x="365760" y="365760"/>
            <a:ext cx="11430000" cy="502920"/>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High-Throughput Product Inventory Lookup Service</a:t>
            </a:r>
            <a:endParaRPr lang="en-US" sz="2500" dirty="0"/>
          </a:p>
        </p:txBody>
      </p:sp>
      <p:sp>
        <p:nvSpPr>
          <p:cNvPr id="5" name="Text 3"/>
          <p:cNvSpPr/>
          <p:nvPr/>
        </p:nvSpPr>
        <p:spPr>
          <a:xfrm>
            <a:off x="365760" y="841248"/>
            <a:ext cx="11430000" cy="201168"/>
          </a:xfrm>
          <a:prstGeom prst="rect">
            <a:avLst/>
          </a:prstGeom>
          <a:noFill/>
          <a:ln/>
        </p:spPr>
        <p:txBody>
          <a:bodyPr wrap="square" lIns="0" tIns="0" rIns="0" bIns="0" rtlCol="0" anchor="ctr"/>
          <a:lstStyle/>
          <a:p>
            <a:pPr indent="0" marL="0">
              <a:buNone/>
            </a:pPr>
            <a:r>
              <a:rPr lang="en-US" sz="1100" i="1" dirty="0">
                <a:solidFill>
                  <a:srgbClr val="D7F0E4"/>
                </a:solidFill>
                <a:latin typeface="Arial" pitchFamily="34" charset="0"/>
                <a:ea typeface="Arial" pitchFamily="34" charset="-122"/>
                <a:cs typeface="Arial" pitchFamily="34" charset="-120"/>
              </a:rPr>
              <a:t>Primary skill focus: Caching + H2 Embedded DB (with Spring MVC / Hibernate touchpoints)</a:t>
            </a:r>
            <a:endParaRPr lang="en-US" sz="1100" dirty="0"/>
          </a:p>
        </p:txBody>
      </p:sp>
      <p:sp>
        <p:nvSpPr>
          <p:cNvPr id="6" name="Text 4"/>
          <p:cNvSpPr/>
          <p:nvPr/>
        </p:nvSpPr>
        <p:spPr>
          <a:xfrm>
            <a:off x="365760" y="1207008"/>
            <a:ext cx="114300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PROBLEM STATEMENT</a:t>
            </a:r>
            <a:endParaRPr lang="en-US" sz="1200" dirty="0"/>
          </a:p>
        </p:txBody>
      </p:sp>
      <p:sp>
        <p:nvSpPr>
          <p:cNvPr id="7" name="Text 5"/>
          <p:cNvSpPr/>
          <p:nvPr/>
        </p:nvSpPr>
        <p:spPr>
          <a:xfrm>
            <a:off x="365760" y="1463040"/>
            <a:ext cx="11430000" cy="1051560"/>
          </a:xfrm>
          <a:prstGeom prst="rect">
            <a:avLst/>
          </a:prstGeom>
          <a:noFill/>
          <a:ln/>
        </p:spPr>
        <p:txBody>
          <a:bodyPr wrap="square" lIns="0" tIns="0" rIns="0" bIns="0" rtlCol="0" anchor="t"/>
          <a:lstStyle/>
          <a:p>
            <a:pPr indent="0" marL="0">
              <a:lnSpc>
                <a:spcPct val="112000"/>
              </a:lnSpc>
              <a:buNone/>
            </a:pPr>
            <a:r>
              <a:rPr lang="en-US" sz="1250" dirty="0">
                <a:solidFill>
                  <a:srgbClr val="262626"/>
                </a:solidFill>
                <a:latin typeface="Arial" pitchFamily="34" charset="0"/>
                <a:ea typeface="Arial" pitchFamily="34" charset="-122"/>
                <a:cs typeface="Arial" pitchFamily="34" charset="-120"/>
              </a:rPr>
              <a:t>The storefront application needs a product-inventory and stock-lookup service capable of handling very high read volumes at low latency. Stock counts change frequently, so the caching approach must avoid serving stale data right after an inventory update posts. The service also needs a fully automated integration test suite that runs against an embedded database mirroring production schema behavior, so tests execute reliably inside the CI/CD pipeline without depending on a live database.</a:t>
            </a:r>
            <a:endParaRPr lang="en-US" sz="1250" dirty="0"/>
          </a:p>
        </p:txBody>
      </p:sp>
      <p:sp>
        <p:nvSpPr>
          <p:cNvPr id="8" name="Text 6"/>
          <p:cNvSpPr/>
          <p:nvPr/>
        </p:nvSpPr>
        <p:spPr>
          <a:xfrm>
            <a:off x="365760" y="2679192"/>
            <a:ext cx="5486400" cy="256032"/>
          </a:xfrm>
          <a:prstGeom prst="rect">
            <a:avLst/>
          </a:prstGeom>
          <a:noFill/>
          <a:ln/>
        </p:spPr>
        <p:txBody>
          <a:bodyPr wrap="square" lIns="0" tIns="0" rIns="0" bIns="0" rtlCol="0" anchor="ctr"/>
          <a:lstStyle/>
          <a:p>
            <a:pPr indent="0" marL="0">
              <a:buNone/>
            </a:pPr>
            <a:r>
              <a:rPr lang="en-US" sz="1200" b="1" spc="100" kern="0" dirty="0">
                <a:solidFill>
                  <a:srgbClr val="00915A"/>
                </a:solidFill>
                <a:latin typeface="Arial" pitchFamily="34" charset="0"/>
                <a:ea typeface="Arial" pitchFamily="34" charset="-122"/>
                <a:cs typeface="Arial" pitchFamily="34" charset="-120"/>
              </a:rPr>
              <a:t>TOPICS &amp; SUB-TOPICS COVERED</a:t>
            </a:r>
            <a:endParaRPr lang="en-US" sz="1200" dirty="0"/>
          </a:p>
        </p:txBody>
      </p:sp>
      <p:sp>
        <p:nvSpPr>
          <p:cNvPr id="9" name="Text 7"/>
          <p:cNvSpPr/>
          <p:nvPr/>
        </p:nvSpPr>
        <p:spPr>
          <a:xfrm>
            <a:off x="8092440" y="2679192"/>
            <a:ext cx="1234440" cy="237744"/>
          </a:xfrm>
          <a:prstGeom prst="rect">
            <a:avLst/>
          </a:prstGeom>
          <a:solidFill>
            <a:srgbClr val="EFEFEF"/>
          </a:solidFill>
          <a:ln/>
        </p:spPr>
        <p:txBody>
          <a:bodyPr wrap="square" lIns="0" tIns="0" rIns="0" bIns="0" rtlCol="0" anchor="ctr"/>
          <a:lstStyle/>
          <a:p>
            <a:pPr algn="ctr" indent="0" marL="0">
              <a:buNone/>
            </a:pPr>
            <a:r>
              <a:rPr lang="en-US" sz="950" b="1" dirty="0">
                <a:solidFill>
                  <a:srgbClr val="616161"/>
                </a:solidFill>
                <a:latin typeface="Arial" pitchFamily="34" charset="0"/>
                <a:ea typeface="Arial" pitchFamily="34" charset="-122"/>
                <a:cs typeface="Arial" pitchFamily="34" charset="-120"/>
              </a:rPr>
              <a:t>Beginner</a:t>
            </a:r>
            <a:endParaRPr lang="en-US" sz="950" dirty="0"/>
          </a:p>
        </p:txBody>
      </p:sp>
      <p:sp>
        <p:nvSpPr>
          <p:cNvPr id="10" name="Text 8"/>
          <p:cNvSpPr/>
          <p:nvPr/>
        </p:nvSpPr>
        <p:spPr>
          <a:xfrm>
            <a:off x="9390888" y="2679192"/>
            <a:ext cx="1234440" cy="237744"/>
          </a:xfrm>
          <a:prstGeom prst="rect">
            <a:avLst/>
          </a:prstGeom>
          <a:solidFill>
            <a:srgbClr val="BFE3D2"/>
          </a:solidFill>
          <a:ln/>
        </p:spPr>
        <p:txBody>
          <a:bodyPr wrap="square" lIns="0" tIns="0" rIns="0" bIns="0" rtlCol="0" anchor="ctr"/>
          <a:lstStyle/>
          <a:p>
            <a:pPr algn="ctr" indent="0" marL="0">
              <a:buNone/>
            </a:pPr>
            <a:r>
              <a:rPr lang="en-US" sz="950" b="1" dirty="0">
                <a:solidFill>
                  <a:srgbClr val="00623D"/>
                </a:solidFill>
                <a:latin typeface="Arial" pitchFamily="34" charset="0"/>
                <a:ea typeface="Arial" pitchFamily="34" charset="-122"/>
                <a:cs typeface="Arial" pitchFamily="34" charset="-120"/>
              </a:rPr>
              <a:t>Intermediate</a:t>
            </a:r>
            <a:endParaRPr lang="en-US" sz="950" dirty="0"/>
          </a:p>
        </p:txBody>
      </p:sp>
      <p:sp>
        <p:nvSpPr>
          <p:cNvPr id="11" name="Text 9"/>
          <p:cNvSpPr/>
          <p:nvPr/>
        </p:nvSpPr>
        <p:spPr>
          <a:xfrm>
            <a:off x="10689336" y="2679192"/>
            <a:ext cx="1234440" cy="237744"/>
          </a:xfrm>
          <a:prstGeom prst="rect">
            <a:avLst/>
          </a:prstGeom>
          <a:solidFill>
            <a:srgbClr val="00915A"/>
          </a:solid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Advanced</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2990088"/>
          <a:ext cx="11430000" cy="914400"/>
        </p:xfrm>
        <a:graphic>
          <a:graphicData uri="http://schemas.openxmlformats.org/drawingml/2006/table">
            <a:tbl>
              <a:tblPr/>
              <a:tblGrid>
                <a:gridCol w="2468880"/>
                <a:gridCol w="7863840"/>
                <a:gridCol w="1097280"/>
              </a:tblGrid>
              <a:tr h="333756">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Topic Area</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Sub-Topic Checked</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Level</a:t>
                      </a:r>
                      <a:endParaRPr lang="en-US" sz="1050" dirty="0">
                        <a:latin typeface="Arial" charset="0"/>
                        <a:ea typeface="Arial" charset="0"/>
                        <a:cs typeface="Arial" charset="0"/>
                      </a:endParaRPr>
                    </a:p>
                  </a:txBody>
                  <a:tcPr marL="91440" marR="91440" marT="45720" marB="45720">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623D"/>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High-throughput REST API design &amp; pagination for read-heavy endpoints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616161"/>
                          </a:solidFill>
                          <a:latin typeface="Arial" pitchFamily="34" charset="0"/>
                          <a:ea typeface="Arial" pitchFamily="34" charset="-122"/>
                          <a:cs typeface="Arial" pitchFamily="34" charset="-120"/>
                        </a:rPr>
                        <a:t>Beginner</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EFEFEF"/>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HTTP caching headers (ETag / Cache-Control) at the API layer</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Spring MVC</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Standardized exception &amp; error-contract design for downstream resilience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Caching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Cache-aside pattern implementation for inventory/stock data</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Caching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Cache invalidation strategy on inventory-update events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Caching</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Distributed cache consistency considerations across service instances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Hibernate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Second-level cache region configuration &amp; query cache pitfalls</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Advanced</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00915A"/>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H2 Embedded DB</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Embedded DB test configuration &amp; compatibility mode (MySQL/Oracle mode)</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6F9F7"/>
                    </a:solidFill>
                  </a:tcPr>
                </a:tc>
                <a:tc>
                  <a:txBody>
                    <a:bodyPr/>
                    <a:lstStyle/>
                    <a:p>
                      <a:pPr algn="ctr" indent="0" marL="0">
                        <a:buNone/>
                      </a:pPr>
                      <a:r>
                        <a:rPr lang="en-US" sz="1000" b="1" dirty="0">
                          <a:solidFill>
                            <a:srgbClr val="616161"/>
                          </a:solidFill>
                          <a:latin typeface="Arial" pitchFamily="34" charset="0"/>
                          <a:ea typeface="Arial" pitchFamily="34" charset="-122"/>
                          <a:cs typeface="Arial" pitchFamily="34" charset="-120"/>
                        </a:rPr>
                        <a:t>Beginner</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EFEFEF"/>
                    </a:solidFill>
                  </a:tcPr>
                </a:tc>
              </a:tr>
              <a:tr h="333756">
                <a:tc>
                  <a:txBody>
                    <a:bodyPr/>
                    <a:lstStyle/>
                    <a:p>
                      <a:pPr algn="l" indent="0" marL="0">
                        <a:buNone/>
                      </a:pPr>
                      <a:r>
                        <a:rPr lang="en-US" sz="1050" b="1" dirty="0">
                          <a:solidFill>
                            <a:srgbClr val="00623D"/>
                          </a:solidFill>
                          <a:latin typeface="Arial" pitchFamily="34" charset="0"/>
                          <a:ea typeface="Arial" pitchFamily="34" charset="-122"/>
                          <a:cs typeface="Arial" pitchFamily="34" charset="-120"/>
                        </a:rPr>
                        <a:t>H2 Embedded DB</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62626"/>
                          </a:solidFill>
                          <a:latin typeface="Arial" pitchFamily="34" charset="0"/>
                          <a:ea typeface="Arial" pitchFamily="34" charset="-122"/>
                          <a:cs typeface="Arial" pitchFamily="34" charset="-120"/>
                        </a:rPr>
                        <a:t>Automated schema &amp; test-data seeding for CI/CD (Flyway/Liquibase with H2)</a:t>
                      </a:r>
                      <a:endParaRPr lang="en-US" sz="105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00623D"/>
                          </a:solidFill>
                          <a:latin typeface="Arial" pitchFamily="34" charset="0"/>
                          <a:ea typeface="Arial" pitchFamily="34" charset="-122"/>
                          <a:cs typeface="Arial" pitchFamily="34" charset="-120"/>
                        </a:rPr>
                        <a:t>Intermediate</a:t>
                      </a:r>
                      <a:endParaRPr lang="en-US" sz="1000" dirty="0">
                        <a:latin typeface="Arial" charset="0"/>
                        <a:ea typeface="Arial" charset="0"/>
                        <a:cs typeface="Arial" charset="0"/>
                      </a:endParaRPr>
                    </a:p>
                  </a:txBody>
                  <a:tcPr marL="91440" marR="91440" marT="45720" marB="45720" anchor="ctr">
                    <a:lnL w="6350" cap="flat" cmpd="sng" algn="ctr">
                      <a:solidFill>
                        <a:srgbClr val="E3E3E3"/>
                      </a:solidFill>
                      <a:prstDash val="solid"/>
                      <a:round/>
                      <a:headEnd type="none" w="med" len="med"/>
                      <a:tailEnd type="none" w="med" len="med"/>
                    </a:lnL>
                    <a:lnR w="6350" cap="flat" cmpd="sng" algn="ctr">
                      <a:solidFill>
                        <a:srgbClr val="E3E3E3"/>
                      </a:solidFill>
                      <a:prstDash val="solid"/>
                      <a:round/>
                      <a:headEnd type="none" w="med" len="med"/>
                      <a:tailEnd type="none" w="med" len="med"/>
                    </a:lnR>
                    <a:lnT w="6350" cap="flat" cmpd="sng" algn="ctr">
                      <a:solidFill>
                        <a:srgbClr val="E3E3E3"/>
                      </a:solidFill>
                      <a:prstDash val="solid"/>
                      <a:round/>
                      <a:headEnd type="none" w="med" len="med"/>
                      <a:tailEnd type="none" w="med" len="med"/>
                    </a:lnT>
                    <a:lnB w="6350" cap="flat" cmpd="sng" algn="ctr">
                      <a:solidFill>
                        <a:srgbClr val="E3E3E3"/>
                      </a:solidFill>
                      <a:prstDash val="solid"/>
                      <a:round/>
                      <a:headEnd type="none" w="med" len="med"/>
                      <a:tailEnd type="none" w="med" len="med"/>
                    </a:lnB>
                    <a:solidFill>
                      <a:srgbClr val="BFE3D2"/>
                    </a:solidFill>
                  </a:tcPr>
                </a:tc>
              </a:tr>
            </a:tbl>
          </a:graphicData>
        </a:graphic>
      </p:graphicFrame>
      <p:sp>
        <p:nvSpPr>
          <p:cNvPr id="13" name="Text 10"/>
          <p:cNvSpPr/>
          <p:nvPr/>
        </p:nvSpPr>
        <p:spPr>
          <a:xfrm>
            <a:off x="365760" y="6510528"/>
            <a:ext cx="11430000" cy="274320"/>
          </a:xfrm>
          <a:prstGeom prst="rect">
            <a:avLst/>
          </a:prstGeom>
          <a:noFill/>
          <a:ln/>
        </p:spPr>
        <p:txBody>
          <a:bodyPr wrap="square" lIns="0" tIns="0" rIns="0" bIns="0" rtlCol="0" anchor="ctr"/>
          <a:lstStyle/>
          <a:p>
            <a:pPr indent="0" marL="0">
              <a:buNone/>
            </a:pPr>
            <a:r>
              <a:rPr lang="en-US" sz="900" i="1" dirty="0">
                <a:solidFill>
                  <a:srgbClr val="8A8A8A"/>
                </a:solidFill>
                <a:latin typeface="Arial" pitchFamily="34" charset="0"/>
                <a:ea typeface="Arial" pitchFamily="34" charset="-122"/>
                <a:cs typeface="Arial" pitchFamily="34" charset="-120"/>
              </a:rPr>
              <a:t>Note: Do not ask this scenario verbatim — use it to steer questions so every sub-topic above is verified at the stated proficiency level.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2026-07-15T17:34:25Z</dcterms:created>
  <dcterms:modified xsi:type="dcterms:W3CDTF">2026-07-15T17:34:25Z</dcterms:modified>
</cp:coreProperties>
</file>